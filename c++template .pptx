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handoutMasterIdLst>
    <p:handoutMasterId r:id="rId29"/>
  </p:handoutMasterIdLst>
  <p:sldIdLst>
    <p:sldId id="256" r:id="rId3"/>
    <p:sldId id="269" r:id="rId4"/>
    <p:sldId id="258" r:id="rId5"/>
    <p:sldId id="270" r:id="rId6"/>
    <p:sldId id="302" r:id="rId7"/>
    <p:sldId id="280" r:id="rId8"/>
    <p:sldId id="281" r:id="rId9"/>
    <p:sldId id="318" r:id="rId10"/>
    <p:sldId id="325" r:id="rId11"/>
    <p:sldId id="326" r:id="rId12"/>
    <p:sldId id="323" r:id="rId13"/>
    <p:sldId id="282" r:id="rId14"/>
    <p:sldId id="327" r:id="rId15"/>
    <p:sldId id="316" r:id="rId16"/>
    <p:sldId id="317" r:id="rId17"/>
    <p:sldId id="288" r:id="rId18"/>
    <p:sldId id="298" r:id="rId19"/>
    <p:sldId id="330" r:id="rId20"/>
    <p:sldId id="331" r:id="rId22"/>
    <p:sldId id="332" r:id="rId23"/>
    <p:sldId id="333" r:id="rId24"/>
    <p:sldId id="339" r:id="rId25"/>
    <p:sldId id="343" r:id="rId26"/>
    <p:sldId id="341" r:id="rId27"/>
    <p:sldId id="261" r:id="rId28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5D47"/>
    <a:srgbClr val="210408"/>
    <a:srgbClr val="EC0106"/>
    <a:srgbClr val="B03632"/>
    <a:srgbClr val="A20000"/>
    <a:srgbClr val="A40000"/>
    <a:srgbClr val="9E0000"/>
    <a:srgbClr val="C7450B"/>
    <a:srgbClr val="E24E0C"/>
    <a:srgbClr val="DC6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89" autoAdjust="0"/>
    <p:restoredTop sz="96182" autoAdjust="0"/>
  </p:normalViewPr>
  <p:slideViewPr>
    <p:cSldViewPr snapToGrid="0">
      <p:cViewPr varScale="1">
        <p:scale>
          <a:sx n="86" d="100"/>
          <a:sy n="86" d="100"/>
        </p:scale>
        <p:origin x="667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gs" Target="tags/tag28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695960" y="-2842043"/>
            <a:ext cx="10824528" cy="9458350"/>
            <a:chOff x="695960" y="-2842043"/>
            <a:chExt cx="10824528" cy="9458350"/>
          </a:xfrm>
        </p:grpSpPr>
        <p:sp>
          <p:nvSpPr>
            <p:cNvPr id="16" name="Freeform 13"/>
            <p:cNvSpPr/>
            <p:nvPr userDrawn="1"/>
          </p:nvSpPr>
          <p:spPr bwMode="auto">
            <a:xfrm flipH="1">
              <a:off x="3509055" y="-2842043"/>
              <a:ext cx="8011433" cy="9231959"/>
            </a:xfrm>
            <a:custGeom>
              <a:avLst/>
              <a:gdLst>
                <a:gd name="T0" fmla="*/ 1874 w 3748"/>
                <a:gd name="T1" fmla="*/ 0 h 4319"/>
                <a:gd name="T2" fmla="*/ 0 w 3748"/>
                <a:gd name="T3" fmla="*/ 1079 h 4319"/>
                <a:gd name="T4" fmla="*/ 0 w 3748"/>
                <a:gd name="T5" fmla="*/ 3240 h 4319"/>
                <a:gd name="T6" fmla="*/ 1874 w 3748"/>
                <a:gd name="T7" fmla="*/ 4319 h 4319"/>
                <a:gd name="T8" fmla="*/ 3748 w 3748"/>
                <a:gd name="T9" fmla="*/ 3240 h 4319"/>
                <a:gd name="T10" fmla="*/ 3748 w 3748"/>
                <a:gd name="T11" fmla="*/ 1079 h 4319"/>
                <a:gd name="T12" fmla="*/ 1874 w 3748"/>
                <a:gd name="T13" fmla="*/ 0 h 4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8" h="4319">
                  <a:moveTo>
                    <a:pt x="1874" y="0"/>
                  </a:moveTo>
                  <a:lnTo>
                    <a:pt x="0" y="1079"/>
                  </a:lnTo>
                  <a:lnTo>
                    <a:pt x="0" y="3240"/>
                  </a:lnTo>
                  <a:lnTo>
                    <a:pt x="1874" y="4319"/>
                  </a:lnTo>
                  <a:lnTo>
                    <a:pt x="3748" y="3240"/>
                  </a:lnTo>
                  <a:lnTo>
                    <a:pt x="3748" y="1079"/>
                  </a:lnTo>
                  <a:lnTo>
                    <a:pt x="187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36484" r="-36368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3"/>
            <p:cNvSpPr/>
            <p:nvPr userDrawn="1"/>
          </p:nvSpPr>
          <p:spPr bwMode="auto">
            <a:xfrm>
              <a:off x="695960" y="241693"/>
              <a:ext cx="5119690" cy="5899664"/>
            </a:xfrm>
            <a:custGeom>
              <a:avLst/>
              <a:gdLst>
                <a:gd name="T0" fmla="*/ 1874 w 3748"/>
                <a:gd name="T1" fmla="*/ 0 h 4319"/>
                <a:gd name="T2" fmla="*/ 0 w 3748"/>
                <a:gd name="T3" fmla="*/ 1079 h 4319"/>
                <a:gd name="T4" fmla="*/ 0 w 3748"/>
                <a:gd name="T5" fmla="*/ 3240 h 4319"/>
                <a:gd name="T6" fmla="*/ 1874 w 3748"/>
                <a:gd name="T7" fmla="*/ 4319 h 4319"/>
                <a:gd name="T8" fmla="*/ 3748 w 3748"/>
                <a:gd name="T9" fmla="*/ 3240 h 4319"/>
                <a:gd name="T10" fmla="*/ 3748 w 3748"/>
                <a:gd name="T11" fmla="*/ 1079 h 4319"/>
                <a:gd name="T12" fmla="*/ 1874 w 3748"/>
                <a:gd name="T13" fmla="*/ 0 h 4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8" h="4319">
                  <a:moveTo>
                    <a:pt x="1874" y="0"/>
                  </a:moveTo>
                  <a:lnTo>
                    <a:pt x="0" y="1079"/>
                  </a:lnTo>
                  <a:lnTo>
                    <a:pt x="0" y="3240"/>
                  </a:lnTo>
                  <a:lnTo>
                    <a:pt x="1874" y="4319"/>
                  </a:lnTo>
                  <a:lnTo>
                    <a:pt x="3748" y="3240"/>
                  </a:lnTo>
                  <a:lnTo>
                    <a:pt x="3748" y="1079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CE5D47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7"/>
            <p:cNvSpPr/>
            <p:nvPr userDrawn="1"/>
          </p:nvSpPr>
          <p:spPr bwMode="auto">
            <a:xfrm>
              <a:off x="3540623" y="4318218"/>
              <a:ext cx="7955416" cy="2298089"/>
            </a:xfrm>
            <a:custGeom>
              <a:avLst/>
              <a:gdLst>
                <a:gd name="T0" fmla="*/ 0 w 4978"/>
                <a:gd name="T1" fmla="*/ 0 h 1438"/>
                <a:gd name="T2" fmla="*/ 2489 w 4978"/>
                <a:gd name="T3" fmla="*/ 1438 h 1438"/>
                <a:gd name="T4" fmla="*/ 4978 w 4978"/>
                <a:gd name="T5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78" h="1438">
                  <a:moveTo>
                    <a:pt x="0" y="0"/>
                  </a:moveTo>
                  <a:lnTo>
                    <a:pt x="2489" y="1438"/>
                  </a:lnTo>
                  <a:lnTo>
                    <a:pt x="4978" y="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3823854" y="5578476"/>
            <a:ext cx="7672186" cy="558799"/>
          </a:xfrm>
        </p:spPr>
        <p:txBody>
          <a:bodyPr anchor="t">
            <a:normAutofit/>
          </a:bodyPr>
          <a:lstStyle>
            <a:lvl1pPr marL="0" indent="0" algn="r">
              <a:buNone/>
              <a:defRPr sz="16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9209" y="1130300"/>
            <a:ext cx="6693016" cy="3183836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73100" y="5544733"/>
            <a:ext cx="286752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100" y="5841004"/>
            <a:ext cx="286752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/>
          <p:cNvSpPr/>
          <p:nvPr userDrawn="1"/>
        </p:nvSpPr>
        <p:spPr bwMode="auto">
          <a:xfrm>
            <a:off x="695960" y="479168"/>
            <a:ext cx="5119690" cy="5899664"/>
          </a:xfrm>
          <a:custGeom>
            <a:avLst/>
            <a:gdLst>
              <a:gd name="T0" fmla="*/ 1874 w 3748"/>
              <a:gd name="T1" fmla="*/ 0 h 4319"/>
              <a:gd name="T2" fmla="*/ 0 w 3748"/>
              <a:gd name="T3" fmla="*/ 1079 h 4319"/>
              <a:gd name="T4" fmla="*/ 0 w 3748"/>
              <a:gd name="T5" fmla="*/ 3240 h 4319"/>
              <a:gd name="T6" fmla="*/ 1874 w 3748"/>
              <a:gd name="T7" fmla="*/ 4319 h 4319"/>
              <a:gd name="T8" fmla="*/ 3748 w 3748"/>
              <a:gd name="T9" fmla="*/ 3240 h 4319"/>
              <a:gd name="T10" fmla="*/ 3748 w 3748"/>
              <a:gd name="T11" fmla="*/ 1079 h 4319"/>
              <a:gd name="T12" fmla="*/ 1874 w 3748"/>
              <a:gd name="T13" fmla="*/ 0 h 43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48" h="4319">
                <a:moveTo>
                  <a:pt x="1874" y="0"/>
                </a:moveTo>
                <a:lnTo>
                  <a:pt x="0" y="1079"/>
                </a:lnTo>
                <a:lnTo>
                  <a:pt x="0" y="3240"/>
                </a:lnTo>
                <a:lnTo>
                  <a:pt x="1874" y="4319"/>
                </a:lnTo>
                <a:lnTo>
                  <a:pt x="3748" y="3240"/>
                </a:lnTo>
                <a:lnTo>
                  <a:pt x="3748" y="1079"/>
                </a:lnTo>
                <a:lnTo>
                  <a:pt x="1874" y="0"/>
                </a:lnTo>
                <a:close/>
              </a:path>
            </a:pathLst>
          </a:custGeom>
          <a:solidFill>
            <a:srgbClr val="CE5D47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60985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H="1">
            <a:off x="695960" y="-2842043"/>
            <a:ext cx="10824528" cy="9458350"/>
            <a:chOff x="695960" y="-2842043"/>
            <a:chExt cx="10824528" cy="9458350"/>
          </a:xfrm>
        </p:grpSpPr>
        <p:sp>
          <p:nvSpPr>
            <p:cNvPr id="7" name="Freeform 13"/>
            <p:cNvSpPr/>
            <p:nvPr userDrawn="1"/>
          </p:nvSpPr>
          <p:spPr bwMode="auto">
            <a:xfrm flipH="1">
              <a:off x="3509055" y="-2842043"/>
              <a:ext cx="8011433" cy="9231959"/>
            </a:xfrm>
            <a:custGeom>
              <a:avLst/>
              <a:gdLst>
                <a:gd name="T0" fmla="*/ 1874 w 3748"/>
                <a:gd name="T1" fmla="*/ 0 h 4319"/>
                <a:gd name="T2" fmla="*/ 0 w 3748"/>
                <a:gd name="T3" fmla="*/ 1079 h 4319"/>
                <a:gd name="T4" fmla="*/ 0 w 3748"/>
                <a:gd name="T5" fmla="*/ 3240 h 4319"/>
                <a:gd name="T6" fmla="*/ 1874 w 3748"/>
                <a:gd name="T7" fmla="*/ 4319 h 4319"/>
                <a:gd name="T8" fmla="*/ 3748 w 3748"/>
                <a:gd name="T9" fmla="*/ 3240 h 4319"/>
                <a:gd name="T10" fmla="*/ 3748 w 3748"/>
                <a:gd name="T11" fmla="*/ 1079 h 4319"/>
                <a:gd name="T12" fmla="*/ 1874 w 3748"/>
                <a:gd name="T13" fmla="*/ 0 h 4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8" h="4319">
                  <a:moveTo>
                    <a:pt x="1874" y="0"/>
                  </a:moveTo>
                  <a:lnTo>
                    <a:pt x="0" y="1079"/>
                  </a:lnTo>
                  <a:lnTo>
                    <a:pt x="0" y="3240"/>
                  </a:lnTo>
                  <a:lnTo>
                    <a:pt x="1874" y="4319"/>
                  </a:lnTo>
                  <a:lnTo>
                    <a:pt x="3748" y="3240"/>
                  </a:lnTo>
                  <a:lnTo>
                    <a:pt x="3748" y="1079"/>
                  </a:lnTo>
                  <a:lnTo>
                    <a:pt x="187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36484" r="-36368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13"/>
            <p:cNvSpPr/>
            <p:nvPr userDrawn="1"/>
          </p:nvSpPr>
          <p:spPr bwMode="auto">
            <a:xfrm>
              <a:off x="695960" y="241693"/>
              <a:ext cx="5119690" cy="5899664"/>
            </a:xfrm>
            <a:custGeom>
              <a:avLst/>
              <a:gdLst>
                <a:gd name="T0" fmla="*/ 1874 w 3748"/>
                <a:gd name="T1" fmla="*/ 0 h 4319"/>
                <a:gd name="T2" fmla="*/ 0 w 3748"/>
                <a:gd name="T3" fmla="*/ 1079 h 4319"/>
                <a:gd name="T4" fmla="*/ 0 w 3748"/>
                <a:gd name="T5" fmla="*/ 3240 h 4319"/>
                <a:gd name="T6" fmla="*/ 1874 w 3748"/>
                <a:gd name="T7" fmla="*/ 4319 h 4319"/>
                <a:gd name="T8" fmla="*/ 3748 w 3748"/>
                <a:gd name="T9" fmla="*/ 3240 h 4319"/>
                <a:gd name="T10" fmla="*/ 3748 w 3748"/>
                <a:gd name="T11" fmla="*/ 1079 h 4319"/>
                <a:gd name="T12" fmla="*/ 1874 w 3748"/>
                <a:gd name="T13" fmla="*/ 0 h 4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48" h="4319">
                  <a:moveTo>
                    <a:pt x="1874" y="0"/>
                  </a:moveTo>
                  <a:lnTo>
                    <a:pt x="0" y="1079"/>
                  </a:lnTo>
                  <a:lnTo>
                    <a:pt x="0" y="3240"/>
                  </a:lnTo>
                  <a:lnTo>
                    <a:pt x="1874" y="4319"/>
                  </a:lnTo>
                  <a:lnTo>
                    <a:pt x="3748" y="3240"/>
                  </a:lnTo>
                  <a:lnTo>
                    <a:pt x="3748" y="1079"/>
                  </a:lnTo>
                  <a:lnTo>
                    <a:pt x="1874" y="0"/>
                  </a:lnTo>
                  <a:close/>
                </a:path>
              </a:pathLst>
            </a:custGeom>
            <a:solidFill>
              <a:srgbClr val="CE5D47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17"/>
            <p:cNvSpPr/>
            <p:nvPr userDrawn="1"/>
          </p:nvSpPr>
          <p:spPr bwMode="auto">
            <a:xfrm>
              <a:off x="3540623" y="4318218"/>
              <a:ext cx="7955416" cy="2298089"/>
            </a:xfrm>
            <a:custGeom>
              <a:avLst/>
              <a:gdLst>
                <a:gd name="T0" fmla="*/ 0 w 4978"/>
                <a:gd name="T1" fmla="*/ 0 h 1438"/>
                <a:gd name="T2" fmla="*/ 2489 w 4978"/>
                <a:gd name="T3" fmla="*/ 1438 h 1438"/>
                <a:gd name="T4" fmla="*/ 4978 w 4978"/>
                <a:gd name="T5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78" h="1438">
                  <a:moveTo>
                    <a:pt x="0" y="0"/>
                  </a:moveTo>
                  <a:lnTo>
                    <a:pt x="2489" y="1438"/>
                  </a:lnTo>
                  <a:lnTo>
                    <a:pt x="4978" y="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096000" y="1135064"/>
            <a:ext cx="5119690" cy="3183154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99208" y="5836134"/>
            <a:ext cx="5119690" cy="29796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399210" y="5539863"/>
            <a:ext cx="5119690" cy="283972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themeOverride" Target="../theme/themeOverride1.xml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tags" Target="../tags/tag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7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9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6.xml"/><Relationship Id="rId4" Type="http://schemas.openxmlformats.org/officeDocument/2006/relationships/themeOverride" Target="../theme/themeOverride6.xml"/><Relationship Id="rId3" Type="http://schemas.openxmlformats.org/officeDocument/2006/relationships/tags" Target="../tags/tag2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139834" y="5616576"/>
            <a:ext cx="7672186" cy="558799"/>
          </a:xfrm>
        </p:spPr>
        <p:txBody>
          <a:bodyPr>
            <a:normAutofit/>
          </a:bodyPr>
          <a:lstStyle/>
          <a:p>
            <a:r>
              <a:rPr lang="zh-CN" altLang="en-US" spc="3000" dirty="0">
                <a:solidFill>
                  <a:schemeClr val="accent1"/>
                </a:solidFill>
              </a:rPr>
              <a:t>高级语言程序设计</a:t>
            </a:r>
            <a:endParaRPr lang="en-US" altLang="zh-CN" spc="3000" dirty="0">
              <a:solidFill>
                <a:schemeClr val="accent1"/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394460" y="2508885"/>
            <a:ext cx="4124960" cy="1500505"/>
          </a:xfrm>
        </p:spPr>
        <p:txBody>
          <a:bodyPr>
            <a:normAutofit fontScale="90000"/>
          </a:bodyPr>
          <a:lstStyle/>
          <a:p>
            <a:r>
              <a:rPr lang="en-US" sz="7335" b="0" dirty="0"/>
              <a:t>c++ </a:t>
            </a:r>
            <a:r>
              <a:rPr lang="zh-CN" altLang="en-US" sz="7335" b="0" dirty="0"/>
              <a:t>模板</a:t>
            </a:r>
            <a:br>
              <a:rPr lang="zh-CN" altLang="en-US" sz="3200" b="0" dirty="0"/>
            </a:br>
            <a:endParaRPr lang="zh-CN" altLang="en-US" sz="3200" b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57282" y="1700808"/>
            <a:ext cx="10763205" cy="4083608"/>
            <a:chOff x="757282" y="1700808"/>
            <a:chExt cx="10763205" cy="4083608"/>
          </a:xfrm>
        </p:grpSpPr>
        <p:grpSp>
          <p:nvGrpSpPr>
            <p:cNvPr id="6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757282" y="1700808"/>
              <a:ext cx="10763205" cy="4083608"/>
              <a:chOff x="1175743" y="1700808"/>
              <a:chExt cx="10344744" cy="4083608"/>
            </a:xfrm>
          </p:grpSpPr>
          <p:sp>
            <p:nvSpPr>
              <p:cNvPr id="7" name="iṡľïḑè"/>
              <p:cNvSpPr txBox="1"/>
              <p:nvPr/>
            </p:nvSpPr>
            <p:spPr bwMode="auto">
              <a:xfrm>
                <a:off x="3822192" y="1780800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0030101010101" pitchFamily="49" charset="-122"/>
                  </a:defRPr>
                </a:lvl9pPr>
              </a:lstStyle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3200" b="0" dirty="0">
                    <a:latin typeface="+mn-lt"/>
                    <a:ea typeface="+mn-ea"/>
                    <a:sym typeface="+mn-lt"/>
                  </a:rPr>
                  <a:t>概念</a:t>
                </a:r>
                <a:endParaRPr lang="en-US" altLang="zh-CN" sz="3200" b="0" dirty="0">
                  <a:latin typeface="+mn-lt"/>
                  <a:ea typeface="+mn-ea"/>
                  <a:sym typeface="+mn-lt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3200" b="0" dirty="0">
                    <a:latin typeface="+mn-lt"/>
                    <a:ea typeface="+mn-ea"/>
                    <a:sym typeface="+mn-lt"/>
                  </a:rPr>
                  <a:t>设计目的</a:t>
                </a:r>
                <a:endParaRPr lang="en-US" altLang="zh-CN" sz="3200" b="0" dirty="0">
                  <a:latin typeface="+mn-lt"/>
                  <a:ea typeface="+mn-ea"/>
                  <a:sym typeface="+mn-lt"/>
                </a:endParaRPr>
              </a:p>
              <a:p>
                <a:pPr marL="342900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3200" b="0" dirty="0">
                    <a:latin typeface="+mn-lt"/>
                    <a:ea typeface="+mn-ea"/>
                    <a:sym typeface="+mn-lt"/>
                  </a:rPr>
                  <a:t>示例</a:t>
                </a:r>
                <a:endParaRPr lang="zh-CN" altLang="en-US" sz="3200" b="0" dirty="0">
                  <a:latin typeface="+mn-lt"/>
                  <a:ea typeface="+mn-ea"/>
                  <a:sym typeface="+mn-lt"/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išľïḋé"/>
              <p:cNvSpPr txBox="1"/>
              <p:nvPr/>
            </p:nvSpPr>
            <p:spPr>
              <a:xfrm>
                <a:off x="1175743" y="1700808"/>
                <a:ext cx="2521108" cy="52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</a:t>
                </a:r>
                <a:r>
                  <a:rPr lang="tr-TR" sz="1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N </a:t>
                </a:r>
                <a:r>
                  <a:rPr lang="tr-TR" sz="28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TS</a:t>
                </a:r>
                <a:endParaRPr lang="tr-TR" sz="28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" name="poetry_91022"/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/>
              <a:t>概念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2636995" y="298404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0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 </a:t>
            </a:r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56960" y="3543935"/>
            <a:ext cx="157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definition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概念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5510" y="1310640"/>
            <a:ext cx="977646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Templates are a feature of the C++ programming language that allows functions and classes to operate with generic types. This allows a function or class to work on many different data types without being rewritten for each one.</a:t>
            </a:r>
            <a:endParaRPr lang="zh-CN" altLang="en-US"/>
          </a:p>
          <a:p>
            <a:r>
              <a:rPr lang="zh-CN" altLang="en-US"/>
              <a:t>Templates are of great utility to programmers in C++, especially when combined with multiple inheritance and operator overloading. The C++ Standard Library provides many useful functions within a framework of connected templates</a:t>
            </a:r>
            <a:r>
              <a:rPr lang="en-US" altLang="zh-CN"/>
              <a:t>.</a:t>
            </a:r>
            <a:endParaRPr lang="zh-CN" altLang="en-US"/>
          </a:p>
          <a:p>
            <a:r>
              <a:rPr lang="en-US" altLang="zh-CN"/>
              <a:t>								           -from wikipedia</a:t>
            </a:r>
            <a:endParaRPr lang="en-US" altLang="zh-CN"/>
          </a:p>
        </p:txBody>
      </p:sp>
      <p:grpSp>
        <p:nvGrpSpPr>
          <p:cNvPr id="79" name="#45464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/>
        </p:nvGrpSpPr>
        <p:grpSpPr>
          <a:xfrm>
            <a:off x="988119" y="3726543"/>
            <a:ext cx="10236081" cy="2021113"/>
            <a:chOff x="977959" y="2418443"/>
            <a:chExt cx="10236081" cy="2021113"/>
          </a:xfrm>
        </p:grpSpPr>
        <p:grpSp>
          <p:nvGrpSpPr>
            <p:cNvPr id="80" name="ïŝľïḋè"/>
            <p:cNvGrpSpPr/>
            <p:nvPr/>
          </p:nvGrpSpPr>
          <p:grpSpPr>
            <a:xfrm>
              <a:off x="977959" y="2418443"/>
              <a:ext cx="3281528" cy="2021113"/>
              <a:chOff x="1214272" y="3004168"/>
              <a:chExt cx="3281528" cy="2021113"/>
            </a:xfrm>
          </p:grpSpPr>
          <p:sp>
            <p:nvSpPr>
              <p:cNvPr id="81" name="ísļïḑê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ïṩľíďe"/>
              <p:cNvSpPr txBox="1"/>
              <p:nvPr/>
            </p:nvSpPr>
            <p:spPr>
              <a:xfrm>
                <a:off x="1509745" y="3802965"/>
                <a:ext cx="2690495" cy="534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</a:rPr>
                  <a:t>source code reuse</a:t>
                </a:r>
                <a:endParaRPr lang="en-US" altLang="zh-CN" sz="2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4" name="íSľiḍe"/>
            <p:cNvGrpSpPr/>
            <p:nvPr/>
          </p:nvGrpSpPr>
          <p:grpSpPr>
            <a:xfrm>
              <a:off x="4455235" y="2418443"/>
              <a:ext cx="3281528" cy="2021113"/>
              <a:chOff x="1214272" y="3004168"/>
              <a:chExt cx="3281528" cy="2021113"/>
            </a:xfrm>
          </p:grpSpPr>
          <p:sp>
            <p:nvSpPr>
              <p:cNvPr id="85" name="iSliḓê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86" name="ïṩḷîḑé"/>
              <p:cNvSpPr txBox="1"/>
              <p:nvPr/>
            </p:nvSpPr>
            <p:spPr>
              <a:xfrm>
                <a:off x="1857216" y="3802965"/>
                <a:ext cx="1995805" cy="534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</a:rPr>
                  <a:t>generic types</a:t>
                </a:r>
                <a:endParaRPr lang="en-US" altLang="zh-CN" sz="2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88" name="iṩ1îḍé"/>
            <p:cNvGrpSpPr/>
            <p:nvPr/>
          </p:nvGrpSpPr>
          <p:grpSpPr>
            <a:xfrm>
              <a:off x="7932512" y="2418443"/>
              <a:ext cx="3281528" cy="2021113"/>
              <a:chOff x="1214272" y="3004168"/>
              <a:chExt cx="3281528" cy="2021113"/>
            </a:xfrm>
          </p:grpSpPr>
          <p:sp>
            <p:nvSpPr>
              <p:cNvPr id="89" name="îṣļíḍe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90" name="íšļïḓè"/>
              <p:cNvSpPr txBox="1"/>
              <p:nvPr/>
            </p:nvSpPr>
            <p:spPr>
              <a:xfrm>
                <a:off x="2018064" y="3802965"/>
                <a:ext cx="1673860" cy="534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2400" dirty="0">
                    <a:solidFill>
                      <a:schemeClr val="accent1"/>
                    </a:solidFill>
                  </a:rPr>
                  <a:t>abstraction</a:t>
                </a:r>
                <a:endParaRPr lang="en-US" altLang="zh-CN" sz="2400" dirty="0">
                  <a:solidFill>
                    <a:schemeClr val="accent1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br>
              <a:rPr lang="zh-CN"/>
            </a:br>
            <a:r>
              <a:rPr lang="zh-CN">
                <a:sym typeface="+mn-ea"/>
              </a:rPr>
              <a:t>概念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 descr="本素材由iSlide™ 提供&#13;&#10;iSlide™尊重知识产权并注重保护用户享有的各项权利。郑重提醒您：&#13;&#10;iSlide™插件中提供的任何信息内容的所有权、知识产权归其原始权利人或权利受让人所有，您免费/购买获得的是信息内容的使用权，并受下述条款的约束；&#13;&#10;1. 您仅可以个人非商业用途使用该等信息内容，不可将信息内容的全部或部分用于出售，或以出租、出借、转让、分销、发布等其他任何方式供他人使用；&#13;&#10;2. 禁止在接入互联网或移动互联网的任何网站、平台、应用或程序上以任何方式为他人提供iSlide™插件资源内容的下载。&#13;&#10;The resource is supplied by iSlide™.&#13;&#10;iSlide™ respects all intellectual property rights and protects all the rights its users acquired.Solemnly remind you:&#13;&#10;The ownership and intellectual property of the resources supplied in iSlide Add-in belongs to its owner or the assignee of this ownership.you only acquired the usage of the resources supplied in iSlide Add-in, as well as respected the following restrain terms:&#13;&#10;1.You are only allowed to use such resource for personal and non-commercial aim, not allowed to use such resource or part of it for the sale; or rent, lend, transfer to others; or distribution or release it in any way.&#13;&#10;2.You are not permitted to provide the resource of iSlide Add-in in any website, platform, application access to the Internet or mobile Internet."/>
          <p:cNvGrpSpPr/>
          <p:nvPr/>
        </p:nvGrpSpPr>
        <p:grpSpPr>
          <a:xfrm>
            <a:off x="1007409" y="1357610"/>
            <a:ext cx="10002520" cy="3691890"/>
            <a:chOff x="660400" y="1560810"/>
            <a:chExt cx="10002520" cy="3691890"/>
          </a:xfrm>
        </p:grpSpPr>
        <p:sp>
          <p:nvSpPr>
            <p:cNvPr id="10" name="iśļiḋê"/>
            <p:cNvSpPr/>
            <p:nvPr/>
          </p:nvSpPr>
          <p:spPr bwMode="auto">
            <a:xfrm>
              <a:off x="660400" y="3054402"/>
              <a:ext cx="1153557" cy="1155597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txBody>
            <a:bodyPr vert="horz" wrap="square" lIns="91440" tIns="45720" rIns="91440" bIns="45720" numCol="1" anchor="ctr" anchorCtr="0" compatLnSpc="1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sz="2000" i="1" dirty="0">
                  <a:solidFill>
                    <a:schemeClr val="bg1"/>
                  </a:solidFill>
                </a:rPr>
                <a:t>OOP</a:t>
              </a:r>
              <a:endParaRPr lang="en-US" altLang="zh-CN" sz="2000" i="1" dirty="0">
                <a:solidFill>
                  <a:schemeClr val="bg1"/>
                </a:solidFill>
              </a:endParaRPr>
            </a:p>
          </p:txBody>
        </p:sp>
        <p:sp>
          <p:nvSpPr>
            <p:cNvPr id="12" name="ï$1íďé"/>
            <p:cNvSpPr/>
            <p:nvPr/>
          </p:nvSpPr>
          <p:spPr bwMode="auto">
            <a:xfrm>
              <a:off x="5236845" y="3341985"/>
              <a:ext cx="738505" cy="735330"/>
            </a:xfrm>
            <a:prstGeom prst="ellipse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70000"/>
            </a:bodyPr>
            <a:lstStyle/>
            <a:p>
              <a:pPr algn="ctr"/>
              <a:r>
                <a:rPr lang="zh-CN" altLang="ko-KR">
                  <a:solidFill>
                    <a:schemeClr val="lt1"/>
                  </a:solidFill>
                </a:rPr>
                <a:t>封装</a:t>
              </a:r>
              <a:endParaRPr lang="zh-CN" altLang="ko-KR">
                <a:solidFill>
                  <a:schemeClr val="lt1"/>
                </a:solidFill>
              </a:endParaRPr>
            </a:p>
          </p:txBody>
        </p:sp>
        <p:sp>
          <p:nvSpPr>
            <p:cNvPr id="13" name="íšḻídê"/>
            <p:cNvSpPr/>
            <p:nvPr/>
          </p:nvSpPr>
          <p:spPr bwMode="auto">
            <a:xfrm>
              <a:off x="4334510" y="4512290"/>
              <a:ext cx="738505" cy="740410"/>
            </a:xfrm>
            <a:prstGeom prst="ellipse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70000"/>
            </a:bodyPr>
            <a:lstStyle/>
            <a:p>
              <a:pPr algn="ctr"/>
              <a:r>
                <a:rPr lang="zh-CN" altLang="ko-KR">
                  <a:solidFill>
                    <a:schemeClr val="lt1"/>
                  </a:solidFill>
                </a:rPr>
                <a:t>继承</a:t>
              </a:r>
              <a:endParaRPr lang="zh-CN" altLang="ko-KR">
                <a:solidFill>
                  <a:schemeClr val="lt1"/>
                </a:solidFill>
              </a:endParaRPr>
            </a:p>
          </p:txBody>
        </p:sp>
        <p:sp>
          <p:nvSpPr>
            <p:cNvPr id="11" name="iṣľiḋê"/>
            <p:cNvSpPr/>
            <p:nvPr/>
          </p:nvSpPr>
          <p:spPr bwMode="auto">
            <a:xfrm>
              <a:off x="4386913" y="1560810"/>
              <a:ext cx="1153557" cy="1155597"/>
            </a:xfrm>
            <a:prstGeom prst="ellipse">
              <a:avLst/>
            </a:prstGeom>
            <a:pattFill prst="pct5">
              <a:fgClr>
                <a:srgbClr val="E4E6EA"/>
              </a:fgClr>
              <a:bgClr>
                <a:srgbClr val="ADB5BF"/>
              </a:bgClr>
            </a:pattFill>
            <a:ln w="12700" cap="flat" cmpd="sng" algn="ctr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zh-CN" altLang="en-US">
                  <a:solidFill>
                    <a:schemeClr val="lt1"/>
                  </a:solidFill>
                </a:rPr>
                <a:t>多态</a:t>
              </a:r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2" name="işḻîdé"/>
            <p:cNvSpPr/>
            <p:nvPr/>
          </p:nvSpPr>
          <p:spPr>
            <a:xfrm>
              <a:off x="2836423" y="2864803"/>
              <a:ext cx="1534794" cy="153479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4" name="íṧ1iḑè"/>
            <p:cNvSpPr/>
            <p:nvPr/>
          </p:nvSpPr>
          <p:spPr bwMode="auto">
            <a:xfrm>
              <a:off x="2046323" y="3474651"/>
              <a:ext cx="1084852" cy="315096"/>
            </a:xfrm>
            <a:custGeom>
              <a:avLst/>
              <a:gdLst>
                <a:gd name="T0" fmla="*/ 881 w 881"/>
                <a:gd name="T1" fmla="*/ 129 h 257"/>
                <a:gd name="T2" fmla="*/ 831 w 881"/>
                <a:gd name="T3" fmla="*/ 79 h 257"/>
                <a:gd name="T4" fmla="*/ 170 w 881"/>
                <a:gd name="T5" fmla="*/ 79 h 257"/>
                <a:gd name="T6" fmla="*/ 170 w 881"/>
                <a:gd name="T7" fmla="*/ 0 h 257"/>
                <a:gd name="T8" fmla="*/ 0 w 881"/>
                <a:gd name="T9" fmla="*/ 129 h 257"/>
                <a:gd name="T10" fmla="*/ 170 w 881"/>
                <a:gd name="T11" fmla="*/ 257 h 257"/>
                <a:gd name="T12" fmla="*/ 170 w 881"/>
                <a:gd name="T13" fmla="*/ 178 h 257"/>
                <a:gd name="T14" fmla="*/ 831 w 881"/>
                <a:gd name="T15" fmla="*/ 178 h 257"/>
                <a:gd name="T16" fmla="*/ 881 w 881"/>
                <a:gd name="T17" fmla="*/ 12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1" h="257">
                  <a:moveTo>
                    <a:pt x="881" y="129"/>
                  </a:moveTo>
                  <a:cubicBezTo>
                    <a:pt x="881" y="100"/>
                    <a:pt x="860" y="79"/>
                    <a:pt x="831" y="79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70" y="0"/>
                    <a:pt x="170" y="0"/>
                    <a:pt x="170" y="0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170" y="257"/>
                    <a:pt x="170" y="257"/>
                    <a:pt x="170" y="257"/>
                  </a:cubicBezTo>
                  <a:cubicBezTo>
                    <a:pt x="170" y="178"/>
                    <a:pt x="170" y="178"/>
                    <a:pt x="170" y="178"/>
                  </a:cubicBezTo>
                  <a:cubicBezTo>
                    <a:pt x="831" y="178"/>
                    <a:pt x="831" y="178"/>
                    <a:pt x="831" y="178"/>
                  </a:cubicBezTo>
                  <a:cubicBezTo>
                    <a:pt x="861" y="178"/>
                    <a:pt x="881" y="153"/>
                    <a:pt x="881" y="129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dirty="0"/>
            </a:p>
          </p:txBody>
        </p:sp>
        <p:sp>
          <p:nvSpPr>
            <p:cNvPr id="15" name="îS1ídé"/>
            <p:cNvSpPr/>
            <p:nvPr/>
          </p:nvSpPr>
          <p:spPr bwMode="auto">
            <a:xfrm>
              <a:off x="4076465" y="3474651"/>
              <a:ext cx="1084852" cy="315096"/>
            </a:xfrm>
            <a:custGeom>
              <a:avLst/>
              <a:gdLst>
                <a:gd name="T0" fmla="*/ 881 w 881"/>
                <a:gd name="T1" fmla="*/ 129 h 257"/>
                <a:gd name="T2" fmla="*/ 711 w 881"/>
                <a:gd name="T3" fmla="*/ 0 h 257"/>
                <a:gd name="T4" fmla="*/ 711 w 881"/>
                <a:gd name="T5" fmla="*/ 79 h 257"/>
                <a:gd name="T6" fmla="*/ 50 w 881"/>
                <a:gd name="T7" fmla="*/ 79 h 257"/>
                <a:gd name="T8" fmla="*/ 0 w 881"/>
                <a:gd name="T9" fmla="*/ 129 h 257"/>
                <a:gd name="T10" fmla="*/ 50 w 881"/>
                <a:gd name="T11" fmla="*/ 178 h 257"/>
                <a:gd name="T12" fmla="*/ 711 w 881"/>
                <a:gd name="T13" fmla="*/ 178 h 257"/>
                <a:gd name="T14" fmla="*/ 711 w 881"/>
                <a:gd name="T15" fmla="*/ 257 h 257"/>
                <a:gd name="T16" fmla="*/ 881 w 881"/>
                <a:gd name="T17" fmla="*/ 12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1" h="257">
                  <a:moveTo>
                    <a:pt x="881" y="129"/>
                  </a:moveTo>
                  <a:cubicBezTo>
                    <a:pt x="711" y="0"/>
                    <a:pt x="711" y="0"/>
                    <a:pt x="711" y="0"/>
                  </a:cubicBezTo>
                  <a:cubicBezTo>
                    <a:pt x="711" y="79"/>
                    <a:pt x="711" y="79"/>
                    <a:pt x="711" y="79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21" y="79"/>
                    <a:pt x="0" y="100"/>
                    <a:pt x="0" y="129"/>
                  </a:cubicBezTo>
                  <a:cubicBezTo>
                    <a:pt x="0" y="153"/>
                    <a:pt x="20" y="178"/>
                    <a:pt x="50" y="178"/>
                  </a:cubicBezTo>
                  <a:cubicBezTo>
                    <a:pt x="711" y="178"/>
                    <a:pt x="711" y="178"/>
                    <a:pt x="711" y="178"/>
                  </a:cubicBezTo>
                  <a:cubicBezTo>
                    <a:pt x="711" y="257"/>
                    <a:pt x="711" y="257"/>
                    <a:pt x="711" y="257"/>
                  </a:cubicBezTo>
                  <a:lnTo>
                    <a:pt x="881" y="12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dirty="0"/>
            </a:p>
          </p:txBody>
        </p:sp>
        <p:sp>
          <p:nvSpPr>
            <p:cNvPr id="16" name="ïṧ1ïḑé"/>
            <p:cNvSpPr/>
            <p:nvPr/>
          </p:nvSpPr>
          <p:spPr bwMode="auto">
            <a:xfrm>
              <a:off x="3934743" y="4040818"/>
              <a:ext cx="513650" cy="507176"/>
            </a:xfrm>
            <a:custGeom>
              <a:avLst/>
              <a:gdLst>
                <a:gd name="T0" fmla="*/ 330 w 417"/>
                <a:gd name="T1" fmla="*/ 259 h 413"/>
                <a:gd name="T2" fmla="*/ 87 w 417"/>
                <a:gd name="T3" fmla="*/ 20 h 413"/>
                <a:gd name="T4" fmla="*/ 16 w 417"/>
                <a:gd name="T5" fmla="*/ 20 h 413"/>
                <a:gd name="T6" fmla="*/ 0 w 417"/>
                <a:gd name="T7" fmla="*/ 52 h 413"/>
                <a:gd name="T8" fmla="*/ 16 w 417"/>
                <a:gd name="T9" fmla="*/ 91 h 413"/>
                <a:gd name="T10" fmla="*/ 258 w 417"/>
                <a:gd name="T11" fmla="*/ 329 h 413"/>
                <a:gd name="T12" fmla="*/ 204 w 417"/>
                <a:gd name="T13" fmla="*/ 383 h 413"/>
                <a:gd name="T14" fmla="*/ 417 w 417"/>
                <a:gd name="T15" fmla="*/ 413 h 413"/>
                <a:gd name="T16" fmla="*/ 387 w 417"/>
                <a:gd name="T17" fmla="*/ 203 h 413"/>
                <a:gd name="T18" fmla="*/ 330 w 417"/>
                <a:gd name="T19" fmla="*/ 259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7" h="413">
                  <a:moveTo>
                    <a:pt x="330" y="259"/>
                  </a:moveTo>
                  <a:cubicBezTo>
                    <a:pt x="87" y="20"/>
                    <a:pt x="87" y="20"/>
                    <a:pt x="87" y="20"/>
                  </a:cubicBezTo>
                  <a:cubicBezTo>
                    <a:pt x="66" y="0"/>
                    <a:pt x="37" y="0"/>
                    <a:pt x="16" y="20"/>
                  </a:cubicBezTo>
                  <a:cubicBezTo>
                    <a:pt x="7" y="27"/>
                    <a:pt x="1" y="39"/>
                    <a:pt x="0" y="52"/>
                  </a:cubicBezTo>
                  <a:cubicBezTo>
                    <a:pt x="0" y="66"/>
                    <a:pt x="5" y="80"/>
                    <a:pt x="16" y="91"/>
                  </a:cubicBezTo>
                  <a:cubicBezTo>
                    <a:pt x="258" y="329"/>
                    <a:pt x="258" y="329"/>
                    <a:pt x="258" y="329"/>
                  </a:cubicBezTo>
                  <a:cubicBezTo>
                    <a:pt x="204" y="383"/>
                    <a:pt x="204" y="383"/>
                    <a:pt x="204" y="383"/>
                  </a:cubicBezTo>
                  <a:cubicBezTo>
                    <a:pt x="417" y="413"/>
                    <a:pt x="417" y="413"/>
                    <a:pt x="417" y="413"/>
                  </a:cubicBezTo>
                  <a:cubicBezTo>
                    <a:pt x="387" y="203"/>
                    <a:pt x="387" y="203"/>
                    <a:pt x="387" y="203"/>
                  </a:cubicBezTo>
                  <a:lnTo>
                    <a:pt x="330" y="259"/>
                  </a:ln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î$1îḋê"/>
            <p:cNvSpPr/>
            <p:nvPr/>
          </p:nvSpPr>
          <p:spPr bwMode="auto">
            <a:xfrm>
              <a:off x="3934743" y="2716407"/>
              <a:ext cx="513650" cy="507176"/>
            </a:xfrm>
            <a:custGeom>
              <a:avLst/>
              <a:gdLst>
                <a:gd name="T0" fmla="*/ 50 w 417"/>
                <a:gd name="T1" fmla="*/ 411 h 411"/>
                <a:gd name="T2" fmla="*/ 87 w 417"/>
                <a:gd name="T3" fmla="*/ 398 h 411"/>
                <a:gd name="T4" fmla="*/ 330 w 417"/>
                <a:gd name="T5" fmla="*/ 157 h 411"/>
                <a:gd name="T6" fmla="*/ 387 w 417"/>
                <a:gd name="T7" fmla="*/ 210 h 411"/>
                <a:gd name="T8" fmla="*/ 417 w 417"/>
                <a:gd name="T9" fmla="*/ 0 h 411"/>
                <a:gd name="T10" fmla="*/ 205 w 417"/>
                <a:gd name="T11" fmla="*/ 30 h 411"/>
                <a:gd name="T12" fmla="*/ 259 w 417"/>
                <a:gd name="T13" fmla="*/ 86 h 411"/>
                <a:gd name="T14" fmla="*/ 16 w 417"/>
                <a:gd name="T15" fmla="*/ 327 h 411"/>
                <a:gd name="T16" fmla="*/ 0 w 417"/>
                <a:gd name="T17" fmla="*/ 363 h 411"/>
                <a:gd name="T18" fmla="*/ 16 w 417"/>
                <a:gd name="T19" fmla="*/ 398 h 411"/>
                <a:gd name="T20" fmla="*/ 50 w 417"/>
                <a:gd name="T21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17" h="411">
                  <a:moveTo>
                    <a:pt x="50" y="411"/>
                  </a:moveTo>
                  <a:cubicBezTo>
                    <a:pt x="66" y="411"/>
                    <a:pt x="78" y="407"/>
                    <a:pt x="87" y="398"/>
                  </a:cubicBezTo>
                  <a:cubicBezTo>
                    <a:pt x="330" y="157"/>
                    <a:pt x="330" y="157"/>
                    <a:pt x="330" y="157"/>
                  </a:cubicBezTo>
                  <a:cubicBezTo>
                    <a:pt x="387" y="210"/>
                    <a:pt x="387" y="210"/>
                    <a:pt x="387" y="210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205" y="30"/>
                    <a:pt x="205" y="30"/>
                    <a:pt x="205" y="30"/>
                  </a:cubicBezTo>
                  <a:cubicBezTo>
                    <a:pt x="259" y="86"/>
                    <a:pt x="259" y="86"/>
                    <a:pt x="259" y="86"/>
                  </a:cubicBezTo>
                  <a:cubicBezTo>
                    <a:pt x="16" y="327"/>
                    <a:pt x="16" y="327"/>
                    <a:pt x="16" y="327"/>
                  </a:cubicBezTo>
                  <a:cubicBezTo>
                    <a:pt x="6" y="337"/>
                    <a:pt x="0" y="350"/>
                    <a:pt x="0" y="363"/>
                  </a:cubicBezTo>
                  <a:cubicBezTo>
                    <a:pt x="0" y="376"/>
                    <a:pt x="6" y="388"/>
                    <a:pt x="16" y="398"/>
                  </a:cubicBezTo>
                  <a:cubicBezTo>
                    <a:pt x="24" y="406"/>
                    <a:pt x="37" y="411"/>
                    <a:pt x="50" y="411"/>
                  </a:cubicBezTo>
                  <a:close/>
                </a:path>
              </a:pathLst>
            </a:custGeom>
            <a:solidFill>
              <a:schemeClr val="accent1"/>
            </a:solidFill>
            <a:ln w="38100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dirty="0"/>
            </a:p>
          </p:txBody>
        </p:sp>
        <p:sp>
          <p:nvSpPr>
            <p:cNvPr id="44" name="iṩ1îde"/>
            <p:cNvSpPr/>
            <p:nvPr/>
          </p:nvSpPr>
          <p:spPr bwMode="auto">
            <a:xfrm>
              <a:off x="6539865" y="1678285"/>
              <a:ext cx="4123055" cy="3423920"/>
            </a:xfrm>
            <a:prstGeom prst="rect">
              <a:avLst/>
            </a:prstGeom>
            <a:ln w="38100" cap="rnd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100">
                  <a:ln w="28575" cmpd="sng">
                    <a:noFill/>
                    <a:prstDash val="solid"/>
                  </a:ln>
                  <a:sym typeface="+mn-ea"/>
                </a:rPr>
                <a:t>泛型编程（generic programming）是C++支持的另一种编程模式。它与OOP的目标相同，即使重用代码和抽象通用概念的技术更简单。不过OOP强调的是编程的数据方面，而泛型编程强调的是独立于特定数据类型。它们的侧重点不同。OOP是一个管理大型项目的工具，而泛型编程提供了执行常见任务（如对数据排序或合并链表）的工具。术语泛型（generic）指的是创建独立于类型的代码。C++的数据表示有多种类型——整数、小数、字符、字符串、用户定义的、由多种类型组成的复合结构。例如，要对不同类型的数据进行排序，通常必须为每种类型创建一个排序函数。泛型编程需要对语言进行扩展，以便可以只编写一个泛型（即不是特定类型的）函数，并将其用于各种实际类型。C++模板提供了完成这种任务的机制。</a:t>
              </a:r>
              <a:endParaRPr lang="en-US" altLang="zh-CN" sz="1100">
                <a:ln w="28575" cmpd="sng">
                  <a:noFill/>
                  <a:prstDash val="solid"/>
                </a:ln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dirty="0">
                  <a:ln w="28575" cmpd="sng">
                    <a:noFill/>
                    <a:prstDash val="solid"/>
                  </a:ln>
                  <a:sym typeface="+mn-ea"/>
                </a:rPr>
                <a:t>                                                                        </a:t>
              </a:r>
              <a:r>
                <a:rPr lang="en-US" altLang="zh-CN" sz="1100">
                  <a:sym typeface="+mn-ea"/>
                </a:rPr>
                <a:t>-</a:t>
              </a:r>
              <a:r>
                <a:rPr lang="zh-CN" altLang="en-US" sz="1100">
                  <a:sym typeface="+mn-ea"/>
                </a:rPr>
                <a:t>来自</a:t>
              </a:r>
              <a:r>
                <a:rPr lang="en-US" altLang="zh-CN" sz="1100">
                  <a:sym typeface="+mn-ea"/>
                </a:rPr>
                <a:t>C++Primer</a:t>
              </a:r>
              <a:endParaRPr lang="en-US" altLang="zh-CN" sz="1100"/>
            </a:p>
            <a:p>
              <a:pPr>
                <a:lnSpc>
                  <a:spcPct val="150000"/>
                </a:lnSpc>
              </a:pPr>
              <a:endParaRPr lang="en-US" altLang="zh-CN" sz="1100"/>
            </a:p>
            <a:p>
              <a:pPr>
                <a:lnSpc>
                  <a:spcPct val="150000"/>
                </a:lnSpc>
              </a:pPr>
              <a:endParaRPr lang="en-US" altLang="zh-CN" sz="800" dirty="0">
                <a:ln w="28575" cmpd="sng">
                  <a:noFill/>
                  <a:prstDash val="solid"/>
                </a:ln>
                <a:sym typeface="+mn-ea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468370" y="3180080"/>
            <a:ext cx="10877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C++</a:t>
            </a:r>
            <a:endParaRPr lang="en-US" altLang="zh-CN" sz="2800"/>
          </a:p>
        </p:txBody>
      </p:sp>
      <p:sp>
        <p:nvSpPr>
          <p:cNvPr id="7" name="î$1îḋê"/>
          <p:cNvSpPr/>
          <p:nvPr/>
        </p:nvSpPr>
        <p:spPr bwMode="auto">
          <a:xfrm rot="2640000">
            <a:off x="6012127" y="1694057"/>
            <a:ext cx="513650" cy="507176"/>
          </a:xfrm>
          <a:custGeom>
            <a:avLst/>
            <a:gdLst>
              <a:gd name="T0" fmla="*/ 50 w 417"/>
              <a:gd name="T1" fmla="*/ 411 h 411"/>
              <a:gd name="T2" fmla="*/ 87 w 417"/>
              <a:gd name="T3" fmla="*/ 398 h 411"/>
              <a:gd name="T4" fmla="*/ 330 w 417"/>
              <a:gd name="T5" fmla="*/ 157 h 411"/>
              <a:gd name="T6" fmla="*/ 387 w 417"/>
              <a:gd name="T7" fmla="*/ 210 h 411"/>
              <a:gd name="T8" fmla="*/ 417 w 417"/>
              <a:gd name="T9" fmla="*/ 0 h 411"/>
              <a:gd name="T10" fmla="*/ 205 w 417"/>
              <a:gd name="T11" fmla="*/ 30 h 411"/>
              <a:gd name="T12" fmla="*/ 259 w 417"/>
              <a:gd name="T13" fmla="*/ 86 h 411"/>
              <a:gd name="T14" fmla="*/ 16 w 417"/>
              <a:gd name="T15" fmla="*/ 327 h 411"/>
              <a:gd name="T16" fmla="*/ 0 w 417"/>
              <a:gd name="T17" fmla="*/ 363 h 411"/>
              <a:gd name="T18" fmla="*/ 16 w 417"/>
              <a:gd name="T19" fmla="*/ 398 h 411"/>
              <a:gd name="T20" fmla="*/ 50 w 417"/>
              <a:gd name="T21" fmla="*/ 411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17" h="411">
                <a:moveTo>
                  <a:pt x="50" y="411"/>
                </a:moveTo>
                <a:cubicBezTo>
                  <a:pt x="66" y="411"/>
                  <a:pt x="78" y="407"/>
                  <a:pt x="87" y="398"/>
                </a:cubicBezTo>
                <a:cubicBezTo>
                  <a:pt x="330" y="157"/>
                  <a:pt x="330" y="157"/>
                  <a:pt x="330" y="157"/>
                </a:cubicBezTo>
                <a:cubicBezTo>
                  <a:pt x="387" y="210"/>
                  <a:pt x="387" y="210"/>
                  <a:pt x="387" y="210"/>
                </a:cubicBezTo>
                <a:cubicBezTo>
                  <a:pt x="417" y="0"/>
                  <a:pt x="417" y="0"/>
                  <a:pt x="417" y="0"/>
                </a:cubicBezTo>
                <a:cubicBezTo>
                  <a:pt x="205" y="30"/>
                  <a:pt x="205" y="30"/>
                  <a:pt x="205" y="30"/>
                </a:cubicBezTo>
                <a:cubicBezTo>
                  <a:pt x="259" y="86"/>
                  <a:pt x="259" y="86"/>
                  <a:pt x="259" y="86"/>
                </a:cubicBezTo>
                <a:cubicBezTo>
                  <a:pt x="16" y="327"/>
                  <a:pt x="16" y="327"/>
                  <a:pt x="16" y="327"/>
                </a:cubicBezTo>
                <a:cubicBezTo>
                  <a:pt x="6" y="337"/>
                  <a:pt x="0" y="350"/>
                  <a:pt x="0" y="363"/>
                </a:cubicBezTo>
                <a:cubicBezTo>
                  <a:pt x="0" y="376"/>
                  <a:pt x="6" y="388"/>
                  <a:pt x="16" y="398"/>
                </a:cubicBezTo>
                <a:cubicBezTo>
                  <a:pt x="24" y="406"/>
                  <a:pt x="37" y="411"/>
                  <a:pt x="50" y="411"/>
                </a:cubicBezTo>
                <a:close/>
              </a:path>
            </a:pathLst>
          </a:custGeom>
          <a:solidFill>
            <a:schemeClr val="accent1"/>
          </a:solidFill>
          <a:ln w="38100">
            <a:solidFill>
              <a:schemeClr val="bg1"/>
            </a:solidFill>
            <a:round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设计目的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2636995" y="298404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0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 </a:t>
            </a:r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</a:t>
            </a:r>
            <a:r>
              <a:rPr 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2</a:t>
            </a:r>
            <a:endParaRPr 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65215" y="3554095"/>
            <a:ext cx="3346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purpose of using template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设计目的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15340" y="1450340"/>
            <a:ext cx="105594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Now a problem arises. You have an IntStack </a:t>
            </a:r>
            <a:r>
              <a:rPr lang="en-US" altLang="zh-CN"/>
              <a:t>class</a:t>
            </a:r>
            <a:r>
              <a:rPr lang="zh-CN" altLang="en-US"/>
              <a:t>, which holds integers.But you want a stack that holds shapes or aircraft or plants or something else. Reinventing your source code every time doesn’t seem like a very intelligent approach with a language that touts reusability. There must be a better way.There are three techniques for source code reuse in this situation:the C way, ; the Smalltalk approach,which significantly affected C++; and the C++ approach: templates.</a:t>
            </a:r>
            <a:endParaRPr lang="zh-CN" altLang="en-US"/>
          </a:p>
          <a:p>
            <a:r>
              <a:rPr lang="en-US" altLang="zh-CN"/>
              <a:t>							           - from thinking in c++ vol one	</a:t>
            </a:r>
            <a:endParaRPr lang="en-US" altLang="zh-CN"/>
          </a:p>
        </p:txBody>
      </p:sp>
      <p:grpSp>
        <p:nvGrpSpPr>
          <p:cNvPr id="6" name="#45464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77959" y="3751943"/>
            <a:ext cx="10236868" cy="2021113"/>
            <a:chOff x="977959" y="2418443"/>
            <a:chExt cx="10236868" cy="2021113"/>
          </a:xfrm>
        </p:grpSpPr>
        <p:grpSp>
          <p:nvGrpSpPr>
            <p:cNvPr id="25" name="ïṣḻîḍe"/>
            <p:cNvGrpSpPr/>
            <p:nvPr/>
          </p:nvGrpSpPr>
          <p:grpSpPr>
            <a:xfrm>
              <a:off x="977959" y="2418443"/>
              <a:ext cx="3281528" cy="2021113"/>
              <a:chOff x="1214272" y="3004168"/>
              <a:chExt cx="3281528" cy="2021113"/>
            </a:xfrm>
          </p:grpSpPr>
          <p:sp>
            <p:nvSpPr>
              <p:cNvPr id="18" name="išḷiďè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iṩḷïďê"/>
              <p:cNvSpPr txBox="1"/>
              <p:nvPr/>
            </p:nvSpPr>
            <p:spPr>
              <a:xfrm>
                <a:off x="1363378" y="3134945"/>
                <a:ext cx="347980" cy="42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accent1"/>
                    </a:solidFill>
                  </a:rPr>
                  <a:t>C</a:t>
                </a:r>
                <a:endParaRPr lang="en-US" altLang="zh-CN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0" name="ïṣlïḑé"/>
              <p:cNvSpPr txBox="1"/>
              <p:nvPr/>
            </p:nvSpPr>
            <p:spPr>
              <a:xfrm>
                <a:off x="1376914" y="3529155"/>
                <a:ext cx="2928386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copy the source code for a Stack and make modifications by hand, introducing new errors in the process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" name="îṥľíḑe"/>
            <p:cNvGrpSpPr/>
            <p:nvPr/>
          </p:nvGrpSpPr>
          <p:grpSpPr>
            <a:xfrm>
              <a:off x="4455235" y="2418443"/>
              <a:ext cx="3281528" cy="2021113"/>
              <a:chOff x="1214272" y="3004168"/>
              <a:chExt cx="3281528" cy="2021113"/>
            </a:xfrm>
          </p:grpSpPr>
          <p:sp>
            <p:nvSpPr>
              <p:cNvPr id="39" name="iṥlîḍê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40" name="íṥlíďé"/>
              <p:cNvSpPr txBox="1"/>
              <p:nvPr/>
            </p:nvSpPr>
            <p:spPr>
              <a:xfrm>
                <a:off x="1388778" y="3134945"/>
                <a:ext cx="1109980" cy="42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accent1"/>
                    </a:solidFill>
                  </a:rPr>
                  <a:t>Smalltalk</a:t>
                </a:r>
                <a:endParaRPr lang="en-US" altLang="zh-CN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1" name="ïšḻiḑê"/>
              <p:cNvSpPr txBox="1"/>
              <p:nvPr/>
            </p:nvSpPr>
            <p:spPr>
              <a:xfrm>
                <a:off x="1376914" y="3529155"/>
                <a:ext cx="2928386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inherit generic base class Object and multiple inheritance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It's painful to use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4" name="išļíḋê"/>
            <p:cNvGrpSpPr/>
            <p:nvPr/>
          </p:nvGrpSpPr>
          <p:grpSpPr>
            <a:xfrm>
              <a:off x="7932512" y="2418443"/>
              <a:ext cx="3282315" cy="2021113"/>
              <a:chOff x="1214272" y="3004168"/>
              <a:chExt cx="3282315" cy="2021113"/>
            </a:xfrm>
          </p:grpSpPr>
          <p:sp>
            <p:nvSpPr>
              <p:cNvPr id="45" name="ïśḻíďê"/>
              <p:cNvSpPr/>
              <p:nvPr/>
            </p:nvSpPr>
            <p:spPr>
              <a:xfrm>
                <a:off x="1214272" y="3004168"/>
                <a:ext cx="3281528" cy="20211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0" dist="127000" dir="4200000" algn="ctr" rotWithShape="0">
                  <a:srgbClr val="000000">
                    <a:alpha val="15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46" name="isľidè"/>
              <p:cNvSpPr txBox="1"/>
              <p:nvPr/>
            </p:nvSpPr>
            <p:spPr>
              <a:xfrm>
                <a:off x="1362108" y="3134945"/>
                <a:ext cx="614680" cy="423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dirty="0">
                    <a:solidFill>
                      <a:schemeClr val="accent1"/>
                    </a:solidFill>
                  </a:rPr>
                  <a:t>C++</a:t>
                </a:r>
                <a:endParaRPr lang="en-US" altLang="zh-CN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7" name="iŝ1ïḑè"/>
              <p:cNvSpPr txBox="1"/>
              <p:nvPr/>
            </p:nvSpPr>
            <p:spPr>
              <a:xfrm>
                <a:off x="1376832" y="3529313"/>
                <a:ext cx="3119755" cy="1418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</a:rPr>
                  <a:t>use a code-substitution device called a template.The container no longer holds a generic base class called Object, but instead it holds an unspecified parameter. When you use a template, the parameter is substituted by the compiler.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设计目的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3575" y="1293495"/>
            <a:ext cx="5314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>
                <a:latin typeface="华光准圆_CNKI" panose="02000500000000000000" charset="-122"/>
                <a:ea typeface="华光准圆_CNKI" panose="02000500000000000000" charset="-122"/>
              </a:rPr>
              <a:t>实现了参数化的容器类</a:t>
            </a:r>
            <a:endParaRPr lang="en-US" altLang="zh-CN" sz="2800">
              <a:latin typeface="华光准圆_CNKI" panose="02000500000000000000" charset="-122"/>
              <a:ea typeface="华光准圆_CNKI" panose="02000500000000000000" charset="-122"/>
            </a:endParaRPr>
          </a:p>
        </p:txBody>
      </p:sp>
      <p:grpSp>
        <p:nvGrpSpPr>
          <p:cNvPr id="3" name="#24937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282825" y="1424940"/>
            <a:ext cx="8051165" cy="4815840"/>
            <a:chOff x="3587338" y="1285875"/>
            <a:chExt cx="5017323" cy="3000837"/>
          </a:xfrm>
        </p:grpSpPr>
        <p:cxnSp>
          <p:nvCxnSpPr>
            <p:cNvPr id="7" name="肘形连接符 74"/>
            <p:cNvCxnSpPr>
              <a:stCxn id="10" idx="0"/>
              <a:endCxn id="23" idx="2"/>
            </p:cNvCxnSpPr>
            <p:nvPr/>
          </p:nvCxnSpPr>
          <p:spPr>
            <a:xfrm rot="5400000" flipH="1" flipV="1">
              <a:off x="5050629" y="1945480"/>
              <a:ext cx="409578" cy="1681162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肘形连接符 76"/>
            <p:cNvCxnSpPr>
              <a:stCxn id="13" idx="0"/>
              <a:endCxn id="22" idx="2"/>
            </p:cNvCxnSpPr>
            <p:nvPr/>
          </p:nvCxnSpPr>
          <p:spPr>
            <a:xfrm rot="16200000" flipV="1">
              <a:off x="6731794" y="1945482"/>
              <a:ext cx="409575" cy="1681162"/>
            </a:xfrm>
            <a:prstGeom prst="bentConnector3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>
              <a:stCxn id="22" idx="2"/>
              <a:endCxn id="16" idx="0"/>
            </p:cNvCxnSpPr>
            <p:nvPr/>
          </p:nvCxnSpPr>
          <p:spPr>
            <a:xfrm>
              <a:off x="6096000" y="2581275"/>
              <a:ext cx="0" cy="410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$ľídè"/>
            <p:cNvSpPr/>
            <p:nvPr/>
          </p:nvSpPr>
          <p:spPr>
            <a:xfrm>
              <a:off x="3587338" y="2990850"/>
              <a:ext cx="1654998" cy="1295400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1" name="i$ḷîde"/>
            <p:cNvSpPr/>
            <p:nvPr/>
          </p:nvSpPr>
          <p:spPr>
            <a:xfrm>
              <a:off x="3587338" y="3810211"/>
              <a:ext cx="1654998" cy="4760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 dirty="0"/>
                <a:t>int</a:t>
              </a:r>
              <a:endParaRPr lang="en-US" altLang="zh-CN" i="1" dirty="0"/>
            </a:p>
          </p:txBody>
        </p:sp>
        <p:sp>
          <p:nvSpPr>
            <p:cNvPr id="13" name="íṧľíďè"/>
            <p:cNvSpPr/>
            <p:nvPr/>
          </p:nvSpPr>
          <p:spPr>
            <a:xfrm>
              <a:off x="6949663" y="2990850"/>
              <a:ext cx="1654998" cy="1295400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4" name="íŝlidê"/>
            <p:cNvSpPr/>
            <p:nvPr/>
          </p:nvSpPr>
          <p:spPr>
            <a:xfrm>
              <a:off x="6949663" y="3810211"/>
              <a:ext cx="1654998" cy="4760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 dirty="0" err="1"/>
                <a:t>udt</a:t>
              </a:r>
              <a:r>
                <a:rPr lang="en-US" altLang="zh-CN" i="1" dirty="0"/>
                <a:t>…</a:t>
              </a:r>
              <a:endParaRPr lang="en-US" altLang="zh-CN" i="1" dirty="0"/>
            </a:p>
          </p:txBody>
        </p:sp>
        <p:sp>
          <p:nvSpPr>
            <p:cNvPr id="16" name="ïṥ1ïḓe"/>
            <p:cNvSpPr/>
            <p:nvPr/>
          </p:nvSpPr>
          <p:spPr>
            <a:xfrm>
              <a:off x="5268501" y="2991312"/>
              <a:ext cx="1654998" cy="1295400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17" name="îṡľïḓé"/>
            <p:cNvSpPr/>
            <p:nvPr/>
          </p:nvSpPr>
          <p:spPr>
            <a:xfrm>
              <a:off x="5268501" y="3810673"/>
              <a:ext cx="1654998" cy="47603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 dirty="0"/>
                <a:t>char</a:t>
              </a:r>
              <a:endParaRPr lang="en-US" altLang="zh-CN" i="1" dirty="0"/>
            </a:p>
          </p:txBody>
        </p:sp>
        <p:sp>
          <p:nvSpPr>
            <p:cNvPr id="22" name="îšḷïḓê"/>
            <p:cNvSpPr/>
            <p:nvPr/>
          </p:nvSpPr>
          <p:spPr>
            <a:xfrm>
              <a:off x="5268501" y="1285875"/>
              <a:ext cx="1654998" cy="1295400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i="1">
                <a:solidFill>
                  <a:schemeClr val="tx1"/>
                </a:solidFill>
              </a:endParaRPr>
            </a:p>
          </p:txBody>
        </p:sp>
        <p:sp>
          <p:nvSpPr>
            <p:cNvPr id="23" name="îşļïḍê"/>
            <p:cNvSpPr/>
            <p:nvPr/>
          </p:nvSpPr>
          <p:spPr>
            <a:xfrm>
              <a:off x="5268500" y="2105234"/>
              <a:ext cx="1654998" cy="476038"/>
            </a:xfrm>
            <a:prstGeom prst="rect">
              <a:avLst/>
            </a:prstGeom>
            <a:solidFill>
              <a:schemeClr val="accent1"/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zh-CN" i="1" dirty="0"/>
                <a:t>T container</a:t>
              </a:r>
              <a:endParaRPr lang="en-US" altLang="zh-CN" i="1" dirty="0"/>
            </a:p>
          </p:txBody>
        </p:sp>
      </p:grpSp>
      <p:pic>
        <p:nvPicPr>
          <p:cNvPr id="6" name="图片 5" descr="bottle-1294706__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295" y="1557655"/>
            <a:ext cx="530860" cy="1062355"/>
          </a:xfrm>
          <a:prstGeom prst="rect">
            <a:avLst/>
          </a:prstGeom>
        </p:spPr>
      </p:pic>
      <p:pic>
        <p:nvPicPr>
          <p:cNvPr id="18" name="图片 17" descr="蜂蜜浏览器_beer-1465153__340"/>
          <p:cNvPicPr>
            <a:picLocks noChangeAspect="1"/>
          </p:cNvPicPr>
          <p:nvPr/>
        </p:nvPicPr>
        <p:blipFill>
          <a:blip r:embed="rId3"/>
          <a:srcRect r="72366" b="1849"/>
          <a:stretch>
            <a:fillRect/>
          </a:stretch>
        </p:blipFill>
        <p:spPr>
          <a:xfrm>
            <a:off x="8783320" y="4215765"/>
            <a:ext cx="446405" cy="1179830"/>
          </a:xfrm>
          <a:prstGeom prst="rect">
            <a:avLst/>
          </a:prstGeom>
        </p:spPr>
      </p:pic>
      <p:pic>
        <p:nvPicPr>
          <p:cNvPr id="12" name="图片 11" descr="蜂蜜浏览器_beer-1465153__340"/>
          <p:cNvPicPr>
            <a:picLocks noChangeAspect="1"/>
          </p:cNvPicPr>
          <p:nvPr/>
        </p:nvPicPr>
        <p:blipFill>
          <a:blip r:embed="rId3"/>
          <a:srcRect l="27358" r="43868" b="-1162"/>
          <a:stretch>
            <a:fillRect/>
          </a:stretch>
        </p:blipFill>
        <p:spPr>
          <a:xfrm>
            <a:off x="3378200" y="4215765"/>
            <a:ext cx="464820" cy="1216025"/>
          </a:xfrm>
          <a:prstGeom prst="rect">
            <a:avLst/>
          </a:prstGeom>
        </p:spPr>
      </p:pic>
      <p:pic>
        <p:nvPicPr>
          <p:cNvPr id="15" name="图片 14" descr="蜂蜜浏览器_beer-1465153__340"/>
          <p:cNvPicPr>
            <a:picLocks noChangeAspect="1"/>
          </p:cNvPicPr>
          <p:nvPr/>
        </p:nvPicPr>
        <p:blipFill>
          <a:blip r:embed="rId3"/>
          <a:srcRect l="55936" t="-1796" r="22052"/>
          <a:stretch>
            <a:fillRect/>
          </a:stretch>
        </p:blipFill>
        <p:spPr>
          <a:xfrm>
            <a:off x="6130925" y="4215765"/>
            <a:ext cx="355600" cy="12236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设计目的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39215" y="2829560"/>
            <a:ext cx="95116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8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关于</a:t>
            </a:r>
            <a:r>
              <a:rPr lang="en-US" altLang="zh-CN" sz="8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STL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设计目的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73125" y="1373505"/>
            <a:ext cx="104457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</a:rPr>
              <a:t>The Standard Template Library (STL) is a software library for the C++ programming language that influenced many parts of the C++ Standard Library. It provides four components called algorithms, containers, and iterators.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</a:rPr>
              <a:t>The STL achieves its results through the use of templates.</a:t>
            </a:r>
            <a:endParaRPr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Four ideas of STL:generic programming, abstractness without loss of efficiency, the Von Neumann computation model,[2] and value semantics</a:t>
            </a: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设计目的</a:t>
            </a: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19455" y="1254760"/>
            <a:ext cx="9511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standard template library</a:t>
            </a:r>
            <a:endParaRPr lang="en-US" altLang="zh-CN" sz="3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#185936" descr="本素材由iSlide™ 提供&#13;&#10;iSlide™尊重知识产权并注重保护用户享有的各项权利。郑重提醒您：&#13;&#10;iSlide™插件中提供的任何信息内容的所有权、知识产权归其原始权利人或权利受让人所有，您免费/购买获得的是信息内容的使用权，并受下述条款的约束；&#13;&#10;1. 您仅可以个人非商业用途使用该等信息内容，不可将信息内容的全部或部分用于出售，或以出租、出借、转让、分销、发布等其他任何方式供他人使用；&#13;&#10;2. 禁止在接入互联网或移动互联网的任何网站、平台、应用或程序上以任何方式为他人提供iSlide™插件资源内容的下载。&#13;&#10;The resource is supplied by iSlide™.&#13;&#10;iSlide™ respects all intellectual property rights and protects all the rights its users acquired.Solemnly remind you:&#13;&#10;The ownership and intellectual property of the resources supplied in iSlide Add-in belongs to its owner or the assignee of this ownership.you only acquired the usage of the resources supplied in iSlide Add-in, as well as respected the following restrain terms:&#13;&#10;1.You are only allowed to use such resource for personal and non-commercial aim, not allowed to use such resource or part of it for the sale; or rent, lend, transfer to others; or distribution or release it in any way.&#13;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19138" y="2310566"/>
            <a:ext cx="10753725" cy="3090351"/>
            <a:chOff x="719138" y="2117526"/>
            <a:chExt cx="10753725" cy="3090351"/>
          </a:xfrm>
        </p:grpSpPr>
        <p:sp>
          <p:nvSpPr>
            <p:cNvPr id="6" name="îşḷíḑé"/>
            <p:cNvSpPr/>
            <p:nvPr/>
          </p:nvSpPr>
          <p:spPr bwMode="auto">
            <a:xfrm>
              <a:off x="719138" y="2117526"/>
              <a:ext cx="10753725" cy="903968"/>
            </a:xfrm>
            <a:prstGeom prst="homePlate">
              <a:avLst>
                <a:gd name="adj" fmla="val 35856"/>
              </a:avLst>
            </a:prstGeom>
            <a:solidFill>
              <a:schemeClr val="tx1">
                <a:lumMod val="20000"/>
                <a:lumOff val="80000"/>
                <a:alpha val="48000"/>
              </a:schemeClr>
            </a:solidFill>
            <a:ln w="25400" algn="ctr">
              <a:noFill/>
              <a:miter lim="800000"/>
            </a:ln>
            <a:effectLst/>
          </p:spPr>
          <p:txBody>
            <a:bodyPr wrap="square" lIns="91440" tIns="45720" rIns="91440" bIns="45720" anchor="ctr">
              <a:normAutofit/>
            </a:bodyPr>
            <a:p>
              <a:pPr algn="ctr"/>
            </a:p>
          </p:txBody>
        </p:sp>
        <p:grpSp>
          <p:nvGrpSpPr>
            <p:cNvPr id="7" name="íṧľiḓé"/>
            <p:cNvGrpSpPr/>
            <p:nvPr/>
          </p:nvGrpSpPr>
          <p:grpSpPr>
            <a:xfrm>
              <a:off x="876000" y="2704072"/>
              <a:ext cx="3013710" cy="2503170"/>
              <a:chOff x="1330886" y="2414349"/>
              <a:chExt cx="2875236" cy="2503170"/>
            </a:xfrm>
          </p:grpSpPr>
          <p:sp>
            <p:nvSpPr>
              <p:cNvPr id="11" name="íṩľïḋê"/>
              <p:cNvSpPr/>
              <p:nvPr/>
            </p:nvSpPr>
            <p:spPr bwMode="gray">
              <a:xfrm>
                <a:off x="1330886" y="3069034"/>
                <a:ext cx="2875236" cy="1848485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9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t">
                <a:normAutofit/>
              </a:bodyPr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A container class describes an object that holds other objects.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ísḷïďè"/>
              <p:cNvSpPr/>
              <p:nvPr/>
            </p:nvSpPr>
            <p:spPr bwMode="gray">
              <a:xfrm>
                <a:off x="1330886" y="2414349"/>
                <a:ext cx="2875112" cy="59253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Containers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ïsľîḑè"/>
            <p:cNvGrpSpPr/>
            <p:nvPr/>
          </p:nvGrpSpPr>
          <p:grpSpPr>
            <a:xfrm>
              <a:off x="4319209" y="2704072"/>
              <a:ext cx="3013710" cy="2503805"/>
              <a:chOff x="1330886" y="2414349"/>
              <a:chExt cx="2875236" cy="2503805"/>
            </a:xfrm>
          </p:grpSpPr>
          <p:sp>
            <p:nvSpPr>
              <p:cNvPr id="9" name="ïṡ1îde"/>
              <p:cNvSpPr/>
              <p:nvPr/>
            </p:nvSpPr>
            <p:spPr bwMode="gray">
              <a:xfrm>
                <a:off x="1330886" y="3069034"/>
                <a:ext cx="2875236" cy="1849120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9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t">
                <a:noAutofit/>
              </a:bodyPr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perform operations on a data structure while knowing as little as possible about that structure, thus producing data structure independence.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ïślíḑè"/>
              <p:cNvSpPr/>
              <p:nvPr/>
            </p:nvSpPr>
            <p:spPr bwMode="gray">
              <a:xfrm>
                <a:off x="1330886" y="2414349"/>
                <a:ext cx="2875112" cy="592537"/>
              </a:xfrm>
              <a:prstGeom prst="rect">
                <a:avLst/>
              </a:prstGeom>
              <a:solidFill>
                <a:schemeClr val="accent1"/>
              </a:solidFill>
              <a:ln w="19050">
                <a:noFill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Iterators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" name="iSḻîḍè"/>
            <p:cNvGrpSpPr/>
            <p:nvPr/>
          </p:nvGrpSpPr>
          <p:grpSpPr>
            <a:xfrm>
              <a:off x="7762418" y="2704072"/>
              <a:ext cx="3013710" cy="2503170"/>
              <a:chOff x="1330886" y="2414349"/>
              <a:chExt cx="2875236" cy="2503170"/>
            </a:xfrm>
          </p:grpSpPr>
          <p:sp>
            <p:nvSpPr>
              <p:cNvPr id="14" name="ïşļïḓé"/>
              <p:cNvSpPr/>
              <p:nvPr/>
            </p:nvSpPr>
            <p:spPr bwMode="gray">
              <a:xfrm>
                <a:off x="1330886" y="3069034"/>
                <a:ext cx="2875236" cy="1848485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9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t">
                <a:normAutofit/>
              </a:bodyPr>
              <a:p>
                <a:pPr indent="0">
                  <a:lnSpc>
                    <a:spcPct val="150000"/>
                  </a:lnSpc>
                  <a:buFont typeface="Arial" panose="020B0604020202020204" pitchFamily="34" charset="0"/>
                  <a:buNone/>
                  <a:tabLst>
                    <a:tab pos="227965" algn="l"/>
                  </a:tabLst>
                  <a:defRPr/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The STL algorithms provide a vocabulary with which to describe solutions.</a:t>
                </a:r>
                <a:endParaRPr lang="en-US" altLang="zh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îṡḻíḍe"/>
              <p:cNvSpPr/>
              <p:nvPr/>
            </p:nvSpPr>
            <p:spPr bwMode="gray">
              <a:xfrm>
                <a:off x="1330886" y="2414349"/>
                <a:ext cx="2875112" cy="59253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noFill/>
                <a:miter lim="800000"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p>
                <a:pPr algn="ctr"/>
                <a:r>
                  <a:rPr lang="en-US" altLang="zh-CN" dirty="0">
                    <a:solidFill>
                      <a:schemeClr val="bg1"/>
                    </a:solidFill>
                  </a:rPr>
                  <a:t>Algorithms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示例</a:t>
            </a:r>
            <a:endParaRPr lang="zh-CN" altLang="en-US" sz="4400" dirty="0"/>
          </a:p>
        </p:txBody>
      </p:sp>
      <p:sp>
        <p:nvSpPr>
          <p:cNvPr id="9" name="文本框 8"/>
          <p:cNvSpPr txBox="1"/>
          <p:nvPr/>
        </p:nvSpPr>
        <p:spPr>
          <a:xfrm>
            <a:off x="2629375" y="298404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00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 </a:t>
            </a:r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50610" y="3552190"/>
            <a:ext cx="1207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examples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0265" y="1275080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语法</a:t>
            </a:r>
            <a:endParaRPr lang="zh-CN" altLang="en-US" sz="2400"/>
          </a:p>
        </p:txBody>
      </p:sp>
      <p:grpSp>
        <p:nvGrpSpPr>
          <p:cNvPr id="6" name="组合 5" descr="本素材由iSlide™ 提供&#13;&#10;iSlide™尊重知识产权并注重保护用户享有的各项权利。郑重提醒您：&#13;&#10;iSlide™插件中提供的任何信息内容的所有权、知识产权归其原始权利人或权利受让人所有，您免费/购买获得的是信息内容的使用权，并受下述条款的约束；&#13;&#10;1. 您仅可以个人非商业用途使用该等信息内容，不可将信息内容的全部或部分用于出售，或以出租、出借、转让、分销、发布等其他任何方式供他人使用；&#13;&#10;2. 禁止在接入互联网或移动互联网的任何网站、平台、应用或程序上以任何方式为他人提供iSlide™插件资源内容的下载。&#13;&#10;The resource is supplied by iSlide™.&#13;&#10;iSlide™ respects all intellectual property rights and protects all the rights its users acquired.Solemnly remind you:&#13;&#10;The ownership and intellectual property of the resources supplied in iSlide Add-in belongs to its owner or the assignee of this ownership.you only acquired the usage of the resources supplied in iSlide Add-in, as well as respected the following restrain terms:&#13;&#10;1.You are only allowed to use such resource for personal and non-commercial aim, not allowed to use such resource or part of it for the sale; or rent, lend, transfer to others; or distribution or release it in any way.&#13;&#10;2.You are not permitted to provide the resource of iSlide Add-in in any website, platform, application access to the Internet or mobile Internet."/>
          <p:cNvGrpSpPr/>
          <p:nvPr/>
        </p:nvGrpSpPr>
        <p:grpSpPr>
          <a:xfrm>
            <a:off x="1582420" y="1874520"/>
            <a:ext cx="9360535" cy="3647440"/>
            <a:chOff x="660400" y="3908698"/>
            <a:chExt cx="7796519" cy="2327002"/>
          </a:xfrm>
        </p:grpSpPr>
        <p:grpSp>
          <p:nvGrpSpPr>
            <p:cNvPr id="69" name="íṧḷîḋê"/>
            <p:cNvGrpSpPr/>
            <p:nvPr/>
          </p:nvGrpSpPr>
          <p:grpSpPr>
            <a:xfrm>
              <a:off x="4982191" y="3908698"/>
              <a:ext cx="3474728" cy="2325013"/>
              <a:chOff x="1290290" y="6440528"/>
              <a:chExt cx="3474728" cy="2325013"/>
            </a:xfrm>
          </p:grpSpPr>
          <p:sp>
            <p:nvSpPr>
              <p:cNvPr id="70" name="îṡlïďê"/>
              <p:cNvSpPr/>
              <p:nvPr/>
            </p:nvSpPr>
            <p:spPr>
              <a:xfrm>
                <a:off x="1290320" y="6450731"/>
                <a:ext cx="3474698" cy="637315"/>
              </a:xfrm>
              <a:prstGeom prst="rect">
                <a:avLst/>
              </a:prstGeom>
              <a:solidFill>
                <a:schemeClr val="tx2"/>
              </a:solidFill>
              <a:ln w="25400" cap="rnd">
                <a:solidFill>
                  <a:schemeClr val="tx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88000" tIns="45720" rIns="91440" bIns="45720" numCol="1" spcCol="0" rtlCol="0" fromWordArt="0" anchor="ctr" anchorCtr="0" forceAA="0" compatLnSpc="1">
                <a:normAutofit/>
              </a:bodyPr>
              <a:p>
                <a:r>
                  <a:rPr lang="zh-CN" altLang="en-US" sz="2000" b="1" dirty="0">
                    <a:solidFill>
                      <a:schemeClr val="bg1"/>
                    </a:solidFill>
                  </a:rPr>
                  <a:t>类模板</a:t>
                </a:r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ïṩḻíďé"/>
              <p:cNvSpPr/>
              <p:nvPr/>
            </p:nvSpPr>
            <p:spPr>
              <a:xfrm>
                <a:off x="1290290" y="6440528"/>
                <a:ext cx="3474698" cy="2325013"/>
              </a:xfrm>
              <a:prstGeom prst="rect">
                <a:avLst/>
              </a:prstGeom>
              <a:noFill/>
              <a:ln w="25400" cap="rnd">
                <a:solidFill>
                  <a:schemeClr val="tx2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iṧ1ïḍè"/>
              <p:cNvSpPr txBox="1"/>
              <p:nvPr/>
            </p:nvSpPr>
            <p:spPr>
              <a:xfrm>
                <a:off x="1519320" y="7292593"/>
                <a:ext cx="3016956" cy="1121946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template &lt;class type&gt; 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class class-name 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{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  //code</a:t>
                </a:r>
                <a:endPara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}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8" name="ïšḻîḍê"/>
            <p:cNvGrpSpPr/>
            <p:nvPr/>
          </p:nvGrpSpPr>
          <p:grpSpPr>
            <a:xfrm>
              <a:off x="660400" y="3910687"/>
              <a:ext cx="3474698" cy="2325013"/>
              <a:chOff x="660400" y="3910687"/>
              <a:chExt cx="3474698" cy="2325013"/>
            </a:xfrm>
          </p:grpSpPr>
          <p:sp>
            <p:nvSpPr>
              <p:cNvPr id="67" name="îṩḷïḑe"/>
              <p:cNvSpPr/>
              <p:nvPr/>
            </p:nvSpPr>
            <p:spPr>
              <a:xfrm>
                <a:off x="660400" y="3910687"/>
                <a:ext cx="3474698" cy="637315"/>
              </a:xfrm>
              <a:prstGeom prst="rect">
                <a:avLst/>
              </a:prstGeom>
              <a:solidFill>
                <a:schemeClr val="accent1"/>
              </a:solidFill>
              <a:ln w="25400" cap="rnd">
                <a:solidFill>
                  <a:schemeClr val="accent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288000" tIns="45720" rIns="91440" bIns="45720" numCol="1" spcCol="0" rtlCol="0" fromWordArt="0" anchor="ctr" anchorCtr="0" forceAA="0" compatLnSpc="1">
                <a:normAutofit/>
              </a:bodyPr>
              <a:p>
                <a:r>
                  <a:rPr lang="zh-CN" sz="2000" b="1" dirty="0">
                    <a:solidFill>
                      <a:schemeClr val="bg1"/>
                    </a:solidFill>
                  </a:rPr>
                  <a:t>函数模板</a:t>
                </a:r>
                <a:endParaRPr lang="zh-CN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íṡlíde"/>
              <p:cNvSpPr/>
              <p:nvPr/>
            </p:nvSpPr>
            <p:spPr>
              <a:xfrm>
                <a:off x="660400" y="3910687"/>
                <a:ext cx="3474698" cy="2325013"/>
              </a:xfrm>
              <a:prstGeom prst="rect">
                <a:avLst/>
              </a:prstGeom>
              <a:noFill/>
              <a:ln w="25400" cap="rnd">
                <a:solidFill>
                  <a:schemeClr val="accent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îšlíḍe"/>
              <p:cNvSpPr txBox="1"/>
              <p:nvPr/>
            </p:nvSpPr>
            <p:spPr>
              <a:xfrm>
                <a:off x="818012" y="4690541"/>
                <a:ext cx="3208838" cy="1261945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template &lt;typename type&gt; 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ret-type func-name(param list)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{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 // </a:t>
                </a:r>
                <a:r>
                  <a:rPr lang="en-US" altLang="zh-CN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code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 algn="l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}</a:t>
                </a:r>
                <a:endPara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indent="0">
                  <a:lnSpc>
                    <a:spcPct val="120000"/>
                  </a:lnSpc>
                  <a:buFont typeface="Arial" panose="020B0604020202020204" pitchFamily="34" charset="0"/>
                  <a:buNone/>
                  <a:defRPr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0265" y="1275080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类模板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473200" y="1897380"/>
            <a:ext cx="3718560" cy="369252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//</a:t>
            </a:r>
            <a:r>
              <a:rPr lang="zh-CN" altLang="en-US"/>
              <a:t>定义模板</a:t>
            </a:r>
            <a:endParaRPr lang="zh-CN" altLang="en-US"/>
          </a:p>
          <a:p>
            <a:r>
              <a:rPr lang="zh-CN" altLang="en-US"/>
              <a:t>template&lt;class T, int size = 10&gt;</a:t>
            </a:r>
            <a:endParaRPr lang="zh-CN" altLang="en-US"/>
          </a:p>
          <a:p>
            <a:r>
              <a:rPr lang="zh-CN" altLang="en-US"/>
              <a:t>class Array {</a:t>
            </a:r>
            <a:endParaRPr lang="zh-CN" altLang="en-US"/>
          </a:p>
          <a:p>
            <a:r>
              <a:rPr lang="zh-CN" altLang="en-US"/>
              <a:t>	T A[size];</a:t>
            </a:r>
            <a:endParaRPr lang="zh-CN" altLang="en-US"/>
          </a:p>
          <a:p>
            <a:r>
              <a:rPr lang="zh-CN" altLang="en-US"/>
              <a:t>public:</a:t>
            </a:r>
            <a:endParaRPr lang="zh-CN" altLang="en-US"/>
          </a:p>
          <a:p>
            <a:r>
              <a:rPr lang="zh-CN" altLang="en-US"/>
              <a:t>	T&amp; operator[](int index) {</a:t>
            </a:r>
            <a:endParaRPr lang="zh-CN" altLang="en-US"/>
          </a:p>
          <a:p>
            <a:r>
              <a:rPr lang="zh-CN" altLang="en-US"/>
              <a:t>		return A[index];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71515" y="1897380"/>
            <a:ext cx="5749290" cy="369252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int main() {</a:t>
            </a:r>
            <a:endParaRPr lang="zh-CN" altLang="en-US"/>
          </a:p>
          <a:p>
            <a:r>
              <a:rPr lang="zh-CN" altLang="en-US">
                <a:sym typeface="+mn-ea"/>
              </a:rPr>
              <a:t>	Array&lt;int&gt; ia;        </a:t>
            </a:r>
            <a:r>
              <a:rPr lang="en-US" altLang="zh-CN">
                <a:sym typeface="+mn-ea"/>
              </a:rPr>
              <a:t>//int</a:t>
            </a:r>
            <a:r>
              <a:rPr lang="zh-CN" altLang="en-US">
                <a:sym typeface="+mn-ea"/>
              </a:rPr>
              <a:t>替换</a:t>
            </a:r>
            <a:endParaRPr lang="zh-CN" altLang="en-US"/>
          </a:p>
          <a:p>
            <a:r>
              <a:rPr lang="zh-CN" altLang="en-US">
                <a:sym typeface="+mn-ea"/>
              </a:rPr>
              <a:t>	Array&lt;char&gt; ca;    </a:t>
            </a:r>
            <a:r>
              <a:rPr lang="en-US" altLang="zh-CN">
                <a:sym typeface="+mn-ea"/>
              </a:rPr>
              <a:t>//char</a:t>
            </a:r>
            <a:r>
              <a:rPr lang="zh-CN" altLang="en-US">
                <a:sym typeface="+mn-ea"/>
              </a:rPr>
              <a:t>替换</a:t>
            </a:r>
            <a:endParaRPr lang="zh-CN" altLang="en-US"/>
          </a:p>
          <a:p>
            <a:r>
              <a:rPr lang="zh-CN" altLang="en-US">
                <a:sym typeface="+mn-ea"/>
              </a:rPr>
              <a:t>	for (int i = 0; i &lt; 10; i++) {</a:t>
            </a:r>
            <a:endParaRPr lang="zh-CN" altLang="en-US"/>
          </a:p>
          <a:p>
            <a:r>
              <a:rPr lang="zh-CN" altLang="en-US">
                <a:sym typeface="+mn-ea"/>
              </a:rPr>
              <a:t>		ia[i] = i;</a:t>
            </a:r>
            <a:endParaRPr lang="zh-CN" altLang="en-US"/>
          </a:p>
          <a:p>
            <a:r>
              <a:rPr lang="zh-CN" altLang="en-US">
                <a:sym typeface="+mn-ea"/>
              </a:rPr>
              <a:t>		ca[i] = 65+i;</a:t>
            </a:r>
            <a:endParaRPr lang="zh-CN" altLang="en-US"/>
          </a:p>
          <a:p>
            <a:r>
              <a:rPr lang="zh-CN" altLang="en-US">
                <a:sym typeface="+mn-ea"/>
              </a:rPr>
              <a:t>	}</a:t>
            </a:r>
            <a:endParaRPr lang="zh-CN" altLang="en-US"/>
          </a:p>
          <a:p>
            <a:r>
              <a:rPr lang="zh-CN" altLang="en-US">
                <a:sym typeface="+mn-ea"/>
              </a:rPr>
              <a:t>	for (int j = 0; j &lt; 10; j++) {</a:t>
            </a:r>
            <a:endParaRPr lang="zh-CN" altLang="en-US"/>
          </a:p>
          <a:p>
            <a:r>
              <a:rPr lang="zh-CN" altLang="en-US">
                <a:sym typeface="+mn-ea"/>
              </a:rPr>
              <a:t>		cout &lt;&lt; ia[j] &lt;&lt; " " &lt;&lt; ca[j] &lt;&lt; endl;</a:t>
            </a:r>
            <a:endParaRPr lang="zh-CN" altLang="en-US"/>
          </a:p>
          <a:p>
            <a:r>
              <a:rPr lang="zh-CN" altLang="en-US">
                <a:sym typeface="+mn-ea"/>
              </a:rPr>
              <a:t>	}</a:t>
            </a:r>
            <a:endParaRPr lang="zh-CN" altLang="en-US"/>
          </a:p>
          <a:p>
            <a:r>
              <a:rPr lang="zh-CN" altLang="en-US">
                <a:sym typeface="+mn-ea"/>
              </a:rPr>
              <a:t>	return 0;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9925" y="1224280"/>
            <a:ext cx="3718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600"/>
              <a:t>运行结果：</a:t>
            </a:r>
            <a:endParaRPr lang="zh-CN" altLang="en-US" sz="3600"/>
          </a:p>
          <a:p>
            <a:endParaRPr lang="zh-CN" altLang="en-US" sz="3600"/>
          </a:p>
        </p:txBody>
      </p:sp>
      <p:pic>
        <p:nvPicPr>
          <p:cNvPr id="6" name="图片 5" descr="批注 2020-09-11 1424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6280" y="1741170"/>
            <a:ext cx="4850765" cy="3644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0265" y="1275080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函数模板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422400" y="2029460"/>
            <a:ext cx="3718560" cy="286131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template&lt;typename T&gt;</a:t>
            </a:r>
            <a:endParaRPr lang="zh-CN" altLang="en-US"/>
          </a:p>
          <a:p>
            <a:r>
              <a:rPr lang="zh-CN" altLang="en-US"/>
              <a:t>T max(T &amp;a,T &amp;b){</a:t>
            </a:r>
            <a:endParaRPr lang="zh-CN" altLang="en-US"/>
          </a:p>
          <a:p>
            <a:r>
              <a:rPr lang="zh-CN" altLang="en-US"/>
              <a:t>	if (a &lt;= b)</a:t>
            </a:r>
            <a:endParaRPr lang="zh-CN" altLang="en-US"/>
          </a:p>
          <a:p>
            <a:r>
              <a:rPr lang="zh-CN" altLang="en-US"/>
              <a:t>		return b;</a:t>
            </a:r>
            <a:endParaRPr lang="zh-CN" altLang="en-US"/>
          </a:p>
          <a:p>
            <a:r>
              <a:rPr lang="zh-CN" altLang="en-US"/>
              <a:t>	else return a;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136640" y="2029460"/>
            <a:ext cx="5495925" cy="286131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int main() {</a:t>
            </a:r>
            <a:endParaRPr lang="zh-CN" altLang="en-US"/>
          </a:p>
          <a:p>
            <a:r>
              <a:rPr lang="zh-CN" altLang="en-US">
                <a:sym typeface="+mn-ea"/>
              </a:rPr>
              <a:t>	int a = 3;</a:t>
            </a:r>
            <a:endParaRPr lang="zh-CN" altLang="en-US"/>
          </a:p>
          <a:p>
            <a:r>
              <a:rPr lang="zh-CN" altLang="en-US">
                <a:sym typeface="+mn-ea"/>
              </a:rPr>
              <a:t>	int b = 5;</a:t>
            </a:r>
            <a:endParaRPr lang="zh-CN" altLang="en-US"/>
          </a:p>
          <a:p>
            <a:r>
              <a:rPr lang="zh-CN" altLang="en-US">
                <a:sym typeface="+mn-ea"/>
              </a:rPr>
              <a:t>	string s1 = "asd";</a:t>
            </a:r>
            <a:endParaRPr lang="zh-CN" altLang="en-US"/>
          </a:p>
          <a:p>
            <a:r>
              <a:rPr lang="zh-CN" altLang="en-US">
                <a:sym typeface="+mn-ea"/>
              </a:rPr>
              <a:t>	string s2 = "qwe";</a:t>
            </a:r>
            <a:endParaRPr lang="zh-CN" altLang="en-US"/>
          </a:p>
          <a:p>
            <a:r>
              <a:rPr lang="zh-CN" altLang="en-US">
                <a:sym typeface="+mn-ea"/>
              </a:rPr>
              <a:t>	cout &lt;&lt; max(a, b) &lt;&lt; endl;</a:t>
            </a:r>
            <a:endParaRPr lang="zh-CN" altLang="en-US"/>
          </a:p>
          <a:p>
            <a:r>
              <a:rPr lang="zh-CN" altLang="en-US">
                <a:sym typeface="+mn-ea"/>
              </a:rPr>
              <a:t>	cout &lt;&lt; max(s1, s2) &lt;&lt; endl;</a:t>
            </a:r>
            <a:endParaRPr lang="zh-CN" altLang="en-US"/>
          </a:p>
          <a:p>
            <a:r>
              <a:rPr lang="zh-CN" altLang="en-US">
                <a:sym typeface="+mn-ea"/>
              </a:rPr>
              <a:t>	return 0;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9925" y="1224280"/>
            <a:ext cx="3718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600"/>
              <a:t>运行结果：</a:t>
            </a:r>
            <a:endParaRPr lang="zh-CN" altLang="en-US" sz="3600"/>
          </a:p>
          <a:p>
            <a:endParaRPr lang="zh-CN" altLang="en-US" sz="3600"/>
          </a:p>
        </p:txBody>
      </p:sp>
      <p:pic>
        <p:nvPicPr>
          <p:cNvPr id="6" name="图片 5" descr="C:\Users\liujiayu\Desktop\批注 2020-09-11 142347.png批注 2020-09-11 14234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01570" y="2597150"/>
            <a:ext cx="7389495" cy="22250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9145" y="1222375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继承模板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422400" y="1877060"/>
            <a:ext cx="5039995" cy="489648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noAutofit/>
          </a:bodyPr>
          <a:lstStyle/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template&lt;typename T, typename K&gt;</a:t>
            </a:r>
            <a:endParaRPr lang="zh-CN" altLang="en-US"/>
          </a:p>
          <a:p>
            <a:r>
              <a:rPr lang="zh-CN" altLang="en-US"/>
              <a:t>class Father {</a:t>
            </a:r>
            <a:endParaRPr lang="zh-CN" altLang="en-US"/>
          </a:p>
          <a:p>
            <a:r>
              <a:rPr lang="zh-CN" altLang="en-US"/>
              <a:t>	T fa;</a:t>
            </a:r>
            <a:endParaRPr lang="zh-CN" altLang="en-US"/>
          </a:p>
          <a:p>
            <a:r>
              <a:rPr lang="zh-CN" altLang="en-US"/>
              <a:t>	K fb;</a:t>
            </a:r>
            <a:endParaRPr lang="zh-CN" altLang="en-US"/>
          </a:p>
          <a:p>
            <a:r>
              <a:rPr lang="zh-CN" altLang="en-US"/>
              <a:t>public:</a:t>
            </a:r>
            <a:endParaRPr lang="zh-CN" altLang="en-US"/>
          </a:p>
          <a:p>
            <a:r>
              <a:rPr lang="zh-CN" altLang="en-US"/>
              <a:t>	Father(T t,K k){</a:t>
            </a:r>
            <a:endParaRPr lang="zh-CN" altLang="en-US"/>
          </a:p>
          <a:p>
            <a:r>
              <a:rPr lang="zh-CN" altLang="en-US"/>
              <a:t>		fa = t;</a:t>
            </a:r>
            <a:endParaRPr lang="zh-CN" altLang="en-US"/>
          </a:p>
          <a:p>
            <a:r>
              <a:rPr lang="zh-CN" altLang="en-US"/>
              <a:t>		fb = k;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	K get() {</a:t>
            </a:r>
            <a:endParaRPr lang="zh-CN" altLang="en-US"/>
          </a:p>
          <a:p>
            <a:r>
              <a:rPr lang="zh-CN" altLang="en-US"/>
              <a:t>		return fb;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223760" y="1143000"/>
            <a:ext cx="4002405" cy="563118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template&lt;typename M,typename N&gt;</a:t>
            </a:r>
            <a:endParaRPr lang="zh-CN" altLang="en-US"/>
          </a:p>
          <a:p>
            <a:r>
              <a:rPr lang="zh-CN" altLang="en-US">
                <a:sym typeface="+mn-ea"/>
              </a:rPr>
              <a:t>class Son: public Father&lt;M,N&gt; {</a:t>
            </a:r>
            <a:endParaRPr lang="zh-CN" altLang="en-US"/>
          </a:p>
          <a:p>
            <a:r>
              <a:rPr lang="zh-CN" altLang="en-US">
                <a:sym typeface="+mn-ea"/>
              </a:rPr>
              <a:t>public:</a:t>
            </a:r>
            <a:endParaRPr lang="zh-CN" altLang="en-US"/>
          </a:p>
          <a:p>
            <a:r>
              <a:rPr lang="zh-CN" altLang="en-US">
                <a:sym typeface="+mn-ea"/>
              </a:rPr>
              <a:t>	M sa;</a:t>
            </a:r>
            <a:endParaRPr lang="zh-CN" altLang="en-US"/>
          </a:p>
          <a:p>
            <a:r>
              <a:rPr lang="zh-CN" altLang="en-US">
                <a:sym typeface="+mn-ea"/>
              </a:rPr>
              <a:t>	N sb;</a:t>
            </a:r>
            <a:endParaRPr lang="zh-CN" altLang="en-US"/>
          </a:p>
          <a:p>
            <a:r>
              <a:rPr lang="zh-CN" altLang="en-US">
                <a:sym typeface="+mn-ea"/>
              </a:rPr>
              <a:t>public:</a:t>
            </a:r>
            <a:endParaRPr lang="zh-CN" altLang="en-US"/>
          </a:p>
          <a:p>
            <a:r>
              <a:rPr lang="zh-CN" altLang="en-US">
                <a:sym typeface="+mn-ea"/>
              </a:rPr>
              <a:t>	Son(M d,N i) :Father&lt;M, N&gt;(d,i){</a:t>
            </a:r>
            <a:endParaRPr lang="zh-CN" altLang="en-US"/>
          </a:p>
          <a:p>
            <a:r>
              <a:rPr lang="zh-CN" altLang="en-US">
                <a:sym typeface="+mn-ea"/>
              </a:rPr>
              <a:t>		sa = d;</a:t>
            </a:r>
            <a:endParaRPr lang="zh-CN" altLang="en-US"/>
          </a:p>
          <a:p>
            <a:r>
              <a:rPr lang="zh-CN" altLang="en-US">
                <a:sym typeface="+mn-ea"/>
              </a:rPr>
              <a:t>		sb = i;</a:t>
            </a:r>
            <a:endParaRPr lang="zh-CN" altLang="en-US"/>
          </a:p>
          <a:p>
            <a:r>
              <a:rPr lang="zh-CN" altLang="en-US">
                <a:sym typeface="+mn-ea"/>
              </a:rPr>
              <a:t>	}</a:t>
            </a:r>
            <a:endParaRPr lang="zh-CN" altLang="en-US"/>
          </a:p>
          <a:p>
            <a:r>
              <a:rPr lang="zh-CN" altLang="en-US">
                <a:sym typeface="+mn-ea"/>
              </a:rPr>
              <a:t>};</a:t>
            </a:r>
            <a:endParaRPr lang="zh-CN" altLang="en-US"/>
          </a:p>
          <a:p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int main() {</a:t>
            </a:r>
            <a:endParaRPr lang="zh-CN" altLang="en-US"/>
          </a:p>
          <a:p>
            <a:r>
              <a:rPr lang="zh-CN" altLang="en-US">
                <a:sym typeface="+mn-ea"/>
              </a:rPr>
              <a:t>	Son&lt;double, int&gt; s(3,4);</a:t>
            </a:r>
            <a:endParaRPr lang="zh-CN" altLang="en-US"/>
          </a:p>
          <a:p>
            <a:r>
              <a:rPr lang="zh-CN" altLang="en-US">
                <a:sym typeface="+mn-ea"/>
              </a:rPr>
              <a:t>	cout &lt;&lt; s.sa &lt;&lt; endl;</a:t>
            </a:r>
            <a:endParaRPr lang="zh-CN" altLang="en-US"/>
          </a:p>
          <a:p>
            <a:r>
              <a:rPr lang="zh-CN" altLang="en-US">
                <a:sym typeface="+mn-ea"/>
              </a:rPr>
              <a:t>	cout &lt;&lt; s.get() &lt;&lt; endl;;</a:t>
            </a:r>
            <a:endParaRPr lang="zh-CN" altLang="en-US"/>
          </a:p>
          <a:p>
            <a:r>
              <a:rPr lang="zh-CN" altLang="en-US">
                <a:sym typeface="+mn-ea"/>
              </a:rPr>
              <a:t>	return 0;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9925" y="1224280"/>
            <a:ext cx="3718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600"/>
              <a:t>运行结果：</a:t>
            </a:r>
            <a:endParaRPr lang="zh-CN" altLang="en-US" sz="3600"/>
          </a:p>
          <a:p>
            <a:endParaRPr lang="zh-CN" altLang="en-US" sz="3600"/>
          </a:p>
        </p:txBody>
      </p:sp>
      <p:pic>
        <p:nvPicPr>
          <p:cNvPr id="6" name="图片 5" descr="C:\Users\liujiayu\Desktop\模板3.png模板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92935" y="2624455"/>
            <a:ext cx="7898130" cy="20205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9145" y="1222375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多态模板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1422400" y="1877060"/>
            <a:ext cx="5039995" cy="457009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noAutofit/>
          </a:bodyPr>
          <a:lstStyle/>
          <a:p>
            <a:r>
              <a:rPr lang="zh-CN" altLang="en-US"/>
              <a:t>#include &lt;iostream&gt;</a:t>
            </a:r>
            <a:endParaRPr lang="zh-CN" altLang="en-US"/>
          </a:p>
          <a:p>
            <a:r>
              <a:rPr lang="zh-CN" altLang="en-US"/>
              <a:t>using namespace std;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template&lt;typename T, typename K&gt;</a:t>
            </a:r>
            <a:endParaRPr lang="zh-CN" altLang="en-US"/>
          </a:p>
          <a:p>
            <a:r>
              <a:rPr lang="zh-CN" altLang="en-US"/>
              <a:t>class Father {</a:t>
            </a:r>
            <a:endParaRPr lang="zh-CN" altLang="en-US"/>
          </a:p>
          <a:p>
            <a:r>
              <a:rPr lang="zh-CN" altLang="en-US"/>
              <a:t>public:</a:t>
            </a:r>
            <a:endParaRPr lang="zh-CN" altLang="en-US"/>
          </a:p>
          <a:p>
            <a:r>
              <a:rPr lang="zh-CN" altLang="en-US"/>
              <a:t>	virtual void fun() {}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  <a:p>
            <a:r>
              <a:rPr lang="zh-CN" altLang="en-US"/>
              <a:t>template&lt;typename M,typename N,typename P&gt;</a:t>
            </a:r>
            <a:endParaRPr lang="zh-CN" altLang="en-US"/>
          </a:p>
          <a:p>
            <a:r>
              <a:rPr lang="zh-CN" altLang="en-US"/>
              <a:t>class Son: public Father&lt;M,N&gt; {</a:t>
            </a:r>
            <a:endParaRPr lang="zh-CN" altLang="en-US"/>
          </a:p>
          <a:p>
            <a:r>
              <a:rPr lang="zh-CN" altLang="en-US"/>
              <a:t>public:</a:t>
            </a:r>
            <a:endParaRPr lang="zh-CN" altLang="en-US"/>
          </a:p>
          <a:p>
            <a:r>
              <a:rPr lang="zh-CN" altLang="en-US"/>
              <a:t>	void fun() {</a:t>
            </a:r>
            <a:endParaRPr lang="zh-CN" altLang="en-US"/>
          </a:p>
          <a:p>
            <a:r>
              <a:rPr lang="zh-CN" altLang="en-US"/>
              <a:t>		cout &lt;&lt; "son-fun" &lt;&lt; endl;</a:t>
            </a:r>
            <a:endParaRPr lang="zh-CN" altLang="en-US"/>
          </a:p>
          <a:p>
            <a:r>
              <a:rPr lang="zh-CN" altLang="en-US"/>
              <a:t>	}</a:t>
            </a:r>
            <a:endParaRPr lang="zh-CN" altLang="en-US"/>
          </a:p>
          <a:p>
            <a:r>
              <a:rPr lang="zh-CN" altLang="en-US"/>
              <a:t>};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2640" y="1877060"/>
            <a:ext cx="4002405" cy="203009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int main() {</a:t>
            </a:r>
            <a:endParaRPr lang="zh-CN" altLang="en-US"/>
          </a:p>
          <a:p>
            <a:r>
              <a:rPr lang="zh-CN" altLang="en-US">
                <a:sym typeface="+mn-ea"/>
              </a:rPr>
              <a:t>	Father&lt;int, double&gt;* p = new Son&lt;int, double, char&gt;;</a:t>
            </a:r>
            <a:endParaRPr lang="zh-CN" altLang="en-US"/>
          </a:p>
          <a:p>
            <a:r>
              <a:rPr lang="zh-CN" altLang="en-US">
                <a:sym typeface="+mn-ea"/>
              </a:rPr>
              <a:t>	p-&gt;fun();</a:t>
            </a:r>
            <a:endParaRPr lang="zh-CN" altLang="en-US"/>
          </a:p>
          <a:p>
            <a:r>
              <a:rPr lang="zh-CN" altLang="en-US">
                <a:sym typeface="+mn-ea"/>
              </a:rPr>
              <a:t>	delete p;</a:t>
            </a:r>
            <a:endParaRPr lang="zh-CN" altLang="en-US"/>
          </a:p>
          <a:p>
            <a:r>
              <a:rPr lang="zh-CN" altLang="en-US">
                <a:sym typeface="+mn-ea"/>
              </a:rPr>
              <a:t>	return 0;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9925" y="1224280"/>
            <a:ext cx="37185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3600"/>
              <a:t>运行结果：</a:t>
            </a:r>
            <a:endParaRPr lang="zh-CN" altLang="en-US" sz="3600"/>
          </a:p>
          <a:p>
            <a:endParaRPr lang="zh-CN" altLang="en-US" sz="3600"/>
          </a:p>
        </p:txBody>
      </p:sp>
      <p:pic>
        <p:nvPicPr>
          <p:cNvPr id="6" name="图片 5" descr="C:\Users\liujiayu\Desktop\模板4.png模板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01875" y="2624455"/>
            <a:ext cx="7080250" cy="20205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9145" y="1222375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显式具体化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6218555" y="3193415"/>
            <a:ext cx="4002405" cy="258445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zh-CN" altLang="en-US">
                <a:sym typeface="+mn-ea"/>
              </a:rPr>
              <a:t>int main() {</a:t>
            </a:r>
            <a:endParaRPr lang="zh-CN" altLang="en-US"/>
          </a:p>
          <a:p>
            <a:r>
              <a:rPr lang="zh-CN" altLang="en-US">
                <a:sym typeface="+mn-ea"/>
              </a:rPr>
              <a:t>	</a:t>
            </a:r>
            <a:r>
              <a:rPr lang="en-US" altLang="zh-CN">
                <a:sym typeface="+mn-ea"/>
              </a:rPr>
              <a:t>int a</a:t>
            </a:r>
            <a:r>
              <a:rPr lang="zh-CN" altLang="en-US">
                <a:sym typeface="+mn-ea"/>
              </a:rPr>
              <a:t>;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	int b;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	...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	cout&lt;&lt;Max(a,b)&lt;&lt;endl;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	strT s1;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	strT s2;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	cout&lt;&lt;Max(s1,s2)&lt;&lt;endl;</a:t>
            </a:r>
            <a:endParaRPr lang="zh-CN" altLang="en-US"/>
          </a:p>
          <a:p>
            <a:r>
              <a:rPr lang="zh-CN" altLang="en-US">
                <a:sym typeface="+mn-ea"/>
              </a:rPr>
              <a:t>}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3125" y="1846580"/>
            <a:ext cx="108032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有时传入参数为结构体类型，进行操作时就有限制，无法选择结构体中的具体成员，此时进行显式具体化，当编译器找到与函数调用匹配的具体化定义时，将使用该定义，而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不再寻找模板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3125" y="3193415"/>
            <a:ext cx="4660265" cy="258445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/>
              <a:t>//</a:t>
            </a:r>
            <a:r>
              <a:rPr lang="zh-CN" altLang="en-US"/>
              <a:t>无模板函数</a:t>
            </a:r>
            <a:endParaRPr lang="zh-CN" altLang="en-US"/>
          </a:p>
          <a:p>
            <a:r>
              <a:rPr lang="en-US" altLang="zh-CN"/>
              <a:t>void Max(strT &amp;,strT &amp;)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//</a:t>
            </a:r>
            <a:r>
              <a:rPr lang="zh-CN" altLang="en-US"/>
              <a:t>模板函数</a:t>
            </a:r>
            <a:endParaRPr lang="zh-CN" altLang="en-US"/>
          </a:p>
          <a:p>
            <a:r>
              <a:rPr lang="en-US" altLang="zh-CN"/>
              <a:t>template&lt;typename T&gt;</a:t>
            </a:r>
            <a:endParaRPr lang="en-US" altLang="zh-CN"/>
          </a:p>
          <a:p>
            <a:r>
              <a:rPr lang="en-US" altLang="zh-CN"/>
              <a:t>void Max(T &amp;,T &amp;);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//</a:t>
            </a:r>
            <a:r>
              <a:rPr lang="zh-CN" altLang="en-US"/>
              <a:t>显式具体化</a:t>
            </a:r>
            <a:endParaRPr lang="zh-CN" altLang="en-US"/>
          </a:p>
          <a:p>
            <a:r>
              <a:rPr lang="en-US" altLang="zh-CN"/>
              <a:t>template&lt;&gt;void Max&lt;strT&gt;( strT &amp;,strT &amp;);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72490" y="2910840"/>
            <a:ext cx="104457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</a:rPr>
              <a:t>非模板版本</a:t>
            </a:r>
            <a:r>
              <a:rPr 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</a:rPr>
              <a:t>显式具体化</a:t>
            </a:r>
            <a:r>
              <a:rPr lang="en-US" sz="400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sz="4000">
                <a:latin typeface="微软雅黑" panose="020B0503020204020204" pitchFamily="34" charset="-122"/>
                <a:ea typeface="微软雅黑" panose="020B0503020204020204" pitchFamily="34" charset="-122"/>
              </a:rPr>
              <a:t>模板版本</a:t>
            </a:r>
            <a:endParaRPr sz="4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9145" y="1222375"/>
            <a:ext cx="3779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具体化和实例化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779145" y="2813050"/>
            <a:ext cx="6402705" cy="3138170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/>
              <a:t>template &lt;class T&gt;</a:t>
            </a:r>
            <a:endParaRPr lang="en-US" altLang="zh-CN"/>
          </a:p>
          <a:p>
            <a:r>
              <a:rPr lang="en-US" altLang="zh-CN"/>
              <a:t>void Swap(T &amp;,T &amp;);//</a:t>
            </a:r>
            <a:r>
              <a:rPr lang="zh-CN" altLang="en-US"/>
              <a:t>模板类型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template &lt;&gt; void Swap&lt;strT&gt;(strT &amp;, strT &amp;);//</a:t>
            </a:r>
            <a:r>
              <a:rPr lang="zh-CN" altLang="en-US"/>
              <a:t>显式具体化</a:t>
            </a:r>
            <a:endParaRPr lang="en-US" altLang="zh-CN"/>
          </a:p>
          <a:p>
            <a:r>
              <a:rPr lang="en-US" altLang="zh-CN"/>
              <a:t>int main(void){</a:t>
            </a:r>
            <a:endParaRPr lang="en-US" altLang="zh-CN"/>
          </a:p>
          <a:p>
            <a:r>
              <a:rPr lang="en-US" altLang="zh-CN"/>
              <a:t>template void Swap&lt;char&gt;(char &amp;, char &amp;);//</a:t>
            </a:r>
            <a:r>
              <a:rPr lang="zh-CN" altLang="en-US"/>
              <a:t>显式实例化</a:t>
            </a:r>
            <a:endParaRPr lang="zh-CN" altLang="en-US"/>
          </a:p>
          <a:p>
            <a:r>
              <a:rPr lang="en-US" altLang="zh-CN"/>
              <a:t>short a,b;</a:t>
            </a:r>
            <a:endParaRPr lang="en-US" altLang="zh-CN"/>
          </a:p>
          <a:p>
            <a:r>
              <a:rPr lang="en-US" altLang="zh-CN"/>
              <a:t>...</a:t>
            </a:r>
            <a:endParaRPr lang="en-US" altLang="zh-CN"/>
          </a:p>
          <a:p>
            <a:r>
              <a:rPr lang="en-US" altLang="zh-CN"/>
              <a:t>Swap(a,b)//</a:t>
            </a:r>
            <a:r>
              <a:rPr lang="zh-CN" altLang="en-US"/>
              <a:t>隐式模板实例化</a:t>
            </a:r>
            <a:endParaRPr lang="en-US" altLang="zh-CN"/>
          </a:p>
          <a:p>
            <a:r>
              <a:rPr lang="en-US" altLang="zh-CN"/>
              <a:t>strT m,n;</a:t>
            </a:r>
            <a:endParaRPr lang="en-US" altLang="zh-CN"/>
          </a:p>
          <a:p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79145" y="1743710"/>
            <a:ext cx="104457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sz="2000">
                <a:latin typeface="微软雅黑" panose="020B0503020204020204" pitchFamily="34" charset="-122"/>
                <a:ea typeface="微软雅黑" panose="020B0503020204020204" pitchFamily="34" charset="-122"/>
              </a:rPr>
              <a:t>隐式实例化、显式实例化和显式具体化统称为具体化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它们表示的都是使用具体类型的函数定义，而不是通用描述</a:t>
            </a:r>
            <a:endParaRPr 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48320" y="2813050"/>
            <a:ext cx="3373120" cy="3137535"/>
          </a:xfrm>
          <a:prstGeom prst="rect">
            <a:avLst/>
          </a:prstGeom>
          <a:noFill/>
          <a:ln w="12700" cmpd="sng">
            <a:solidFill>
              <a:srgbClr val="DC6140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/>
              <a:t>Swao(m,n);//</a:t>
            </a:r>
            <a:r>
              <a:rPr lang="zh-CN" altLang="en-US"/>
              <a:t>显式具体化</a:t>
            </a:r>
            <a:endParaRPr lang="en-US" altLang="zh-CN"/>
          </a:p>
          <a:p>
            <a:r>
              <a:rPr lang="en-US" altLang="zh-CN"/>
              <a:t>char g,h;</a:t>
            </a:r>
            <a:endParaRPr lang="en-US" altLang="zh-CN"/>
          </a:p>
          <a:p>
            <a:r>
              <a:rPr lang="en-US" altLang="zh-CN"/>
              <a:t>...</a:t>
            </a:r>
            <a:endParaRPr lang="en-US" altLang="zh-CN"/>
          </a:p>
          <a:p>
            <a:r>
              <a:rPr lang="en-US" altLang="zh-CN"/>
              <a:t>Swap(g,h);//</a:t>
            </a:r>
            <a:r>
              <a:rPr lang="zh-CN" altLang="en-US"/>
              <a:t>显式模板实例化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think-cell Slide" r:id="rId1" imgW="9525" imgH="9525" progId="TCLayout.ActiveDocument.1">
                  <p:embed/>
                </p:oleObj>
              </mc:Choice>
              <mc:Fallback>
                <p:oleObj name="think-cell Slide" r:id="rId1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10000" dirty="0">
                <a:solidFill>
                  <a:schemeClr val="accent2">
                    <a:lumMod val="50000"/>
                  </a:schemeClr>
                </a:solidFill>
              </a:rPr>
              <a:t>Thanks</a:t>
            </a:r>
            <a:b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</a:br>
            <a:endParaRPr lang="zh-CN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ISLIDE.THEME" val="https://www.islide.cc;"/>
</p:tagLst>
</file>

<file path=ppt/tags/tag4.xml><?xml version="1.0" encoding="utf-8"?>
<p:tagLst xmlns:p="http://schemas.openxmlformats.org/presentationml/2006/main">
  <p:tag name="ISLIDE.THEME" val="https://www.islide.cc;"/>
  <p:tag name="ISLIDE.ICON" val="#407148;#407154;#407328;#407214;#407179;"/>
</p:tagLst>
</file>

<file path=ppt/tags/tag5.xml><?xml version="1.0" encoding="utf-8"?>
<p:tagLst xmlns:p="http://schemas.openxmlformats.org/presentationml/2006/main">
  <p:tag name="ISLIDE.THEME" val="https://www.islide.cc;"/>
</p:tagLst>
</file>

<file path=ppt/tags/tag6.xml><?xml version="1.0" encoding="utf-8"?>
<p:tagLst xmlns:p="http://schemas.openxmlformats.org/presentationml/2006/main">
  <p:tag name="ISLIDE.DIAGRAM" val="#454640"/>
</p:tagLst>
</file>

<file path=ppt/tags/tag7.xml><?xml version="1.0" encoding="utf-8"?>
<p:tagLst xmlns:p="http://schemas.openxmlformats.org/presentationml/2006/main">
  <p:tag name="ISLIDE.THEME" val="https://www.islide.cc;"/>
</p:tagLst>
</file>

<file path=ppt/tags/tag8.xml><?xml version="1.0" encoding="utf-8"?>
<p:tagLst xmlns:p="http://schemas.openxmlformats.org/presentationml/2006/main">
  <p:tag name="ISLIDE.DIAGRAM" val="#249378"/>
</p:tagLst>
</file>

<file path=ppt/tags/tag9.xml><?xml version="1.0" encoding="utf-8"?>
<p:tagLst xmlns:p="http://schemas.openxmlformats.org/presentationml/2006/main">
  <p:tag name="ISLIDE.THEME" val="https://www.islide.cc;"/>
</p:tagLst>
</file>

<file path=ppt/tags/tag10.xml><?xml version="1.0" encoding="utf-8"?>
<p:tagLst xmlns:p="http://schemas.openxmlformats.org/presentationml/2006/main">
  <p:tag name="ISLIDE.THEME" val="https://www.islide.cc;"/>
</p:tagLst>
</file>

<file path=ppt/tags/tag11.xml><?xml version="1.0" encoding="utf-8"?>
<p:tagLst xmlns:p="http://schemas.openxmlformats.org/presentationml/2006/main">
  <p:tag name="ISLIDE.THEME" val="https://www.islide.cc;"/>
</p:tagLst>
</file>

<file path=ppt/tags/tag12.xml><?xml version="1.0" encoding="utf-8"?>
<p:tagLst xmlns:p="http://schemas.openxmlformats.org/presentationml/2006/main">
  <p:tag name="ISLIDE.DIAGRAM" val="#185936"/>
</p:tagLst>
</file>

<file path=ppt/tags/tag13.xml><?xml version="1.0" encoding="utf-8"?>
<p:tagLst xmlns:p="http://schemas.openxmlformats.org/presentationml/2006/main">
  <p:tag name="ISLIDE.THEME" val="https://www.islide.cc;"/>
</p:tagLst>
</file>

<file path=ppt/tags/tag14.xml><?xml version="1.0" encoding="utf-8"?>
<p:tagLst xmlns:p="http://schemas.openxmlformats.org/presentationml/2006/main">
  <p:tag name="ISLIDE.THEME" val="https://www.islide.cc;"/>
</p:tagLst>
</file>

<file path=ppt/tags/tag15.xml><?xml version="1.0" encoding="utf-8"?>
<p:tagLst xmlns:p="http://schemas.openxmlformats.org/presentationml/2006/main">
  <p:tag name="ISLIDE.THEME" val="https://www.islide.cc;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THEME" val="https://www.islide.cc;"/>
</p:tagLst>
</file>

<file path=ppt/tags/tag18.xml><?xml version="1.0" encoding="utf-8"?>
<p:tagLst xmlns:p="http://schemas.openxmlformats.org/presentationml/2006/main">
  <p:tag name="ISLIDE.THEME" val="https://www.islide.cc;"/>
</p:tagLst>
</file>

<file path=ppt/tags/tag19.xml><?xml version="1.0" encoding="utf-8"?>
<p:tagLst xmlns:p="http://schemas.openxmlformats.org/presentationml/2006/main">
  <p:tag name="ISLIDE.THEME" val="https://www.islide.cc;"/>
</p:tagLst>
</file>

<file path=ppt/tags/tag20.xml><?xml version="1.0" encoding="utf-8"?>
<p:tagLst xmlns:p="http://schemas.openxmlformats.org/presentationml/2006/main">
  <p:tag name="ISLIDE.THEME" val="https://www.islide.cc;"/>
</p:tagLst>
</file>

<file path=ppt/tags/tag21.xml><?xml version="1.0" encoding="utf-8"?>
<p:tagLst xmlns:p="http://schemas.openxmlformats.org/presentationml/2006/main">
  <p:tag name="ISLIDE.THEME" val="https://www.islide.cc;"/>
</p:tagLst>
</file>

<file path=ppt/tags/tag22.xml><?xml version="1.0" encoding="utf-8"?>
<p:tagLst xmlns:p="http://schemas.openxmlformats.org/presentationml/2006/main">
  <p:tag name="ISLIDE.THEME" val="https://www.islide.cc;"/>
</p:tagLst>
</file>

<file path=ppt/tags/tag23.xml><?xml version="1.0" encoding="utf-8"?>
<p:tagLst xmlns:p="http://schemas.openxmlformats.org/presentationml/2006/main">
  <p:tag name="ISLIDE.THEME" val="https://www.islide.cc;"/>
</p:tagLst>
</file>

<file path=ppt/tags/tag24.xml><?xml version="1.0" encoding="utf-8"?>
<p:tagLst xmlns:p="http://schemas.openxmlformats.org/presentationml/2006/main">
  <p:tag name="ISLIDE.THEME" val="https://www.islide.cc;"/>
</p:tagLst>
</file>

<file path=ppt/tags/tag25.xml><?xml version="1.0" encoding="utf-8"?>
<p:tagLst xmlns:p="http://schemas.openxmlformats.org/presentationml/2006/main">
  <p:tag name="ISLIDE.THEME" val="https://www.islide.cc;"/>
</p:tagLst>
</file>

<file path=ppt/tags/tag26.xml><?xml version="1.0" encoding="utf-8"?>
<p:tagLst xmlns:p="http://schemas.openxmlformats.org/presentationml/2006/main">
  <p:tag name="ISLIDE.THEME" val="https://www.islide.cc;"/>
</p:tagLst>
</file>

<file path=ppt/tags/tag27.xml><?xml version="1.0" encoding="utf-8"?>
<p:tagLst xmlns:p="http://schemas.openxmlformats.org/presentationml/2006/main">
  <p:tag name="ISLIDE.THEME" val="https://www.islide.cc;"/>
</p:tagLst>
</file>

<file path=ppt/tags/tag28.xml><?xml version="1.0" encoding="utf-8"?>
<p:tagLst xmlns:p="http://schemas.openxmlformats.org/presentationml/2006/main">
  <p:tag name="ISLIDE.THEME" val="#27188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CE5D47"/>
      </a:accent1>
      <a:accent2>
        <a:srgbClr val="B13D24"/>
      </a:accent2>
      <a:accent3>
        <a:srgbClr val="742B1C"/>
      </a:accent3>
      <a:accent4>
        <a:srgbClr val="CDD9E7"/>
      </a:accent4>
      <a:accent5>
        <a:srgbClr val="4C150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CE5D47"/>
    </a:accent1>
    <a:accent2>
      <a:srgbClr val="B13D24"/>
    </a:accent2>
    <a:accent3>
      <a:srgbClr val="742B1C"/>
    </a:accent3>
    <a:accent4>
      <a:srgbClr val="CDD9E7"/>
    </a:accent4>
    <a:accent5>
      <a:srgbClr val="4C150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5023</Words>
  <Application>WPS 演示</Application>
  <PresentationFormat>宽屏</PresentationFormat>
  <Paragraphs>376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黑体</vt:lpstr>
      <vt:lpstr>Impact</vt:lpstr>
      <vt:lpstr>华光准圆_CNKI</vt:lpstr>
      <vt:lpstr>Arial Unicode MS</vt:lpstr>
      <vt:lpstr>Calibri</vt:lpstr>
      <vt:lpstr>主题5</vt:lpstr>
      <vt:lpstr>TCLayout.ActiveDocument.1</vt:lpstr>
      <vt:lpstr>TCLayout.ActiveDocument.1</vt:lpstr>
      <vt:lpstr>c++ 模板 </vt:lpstr>
      <vt:lpstr>PowerPoint 演示文稿</vt:lpstr>
      <vt:lpstr>概念</vt:lpstr>
      <vt:lpstr>概念</vt:lpstr>
      <vt:lpstr> 概念</vt:lpstr>
      <vt:lpstr>设计目的</vt:lpstr>
      <vt:lpstr>设计目的</vt:lpstr>
      <vt:lpstr>设计目的</vt:lpstr>
      <vt:lpstr>设计目的</vt:lpstr>
      <vt:lpstr>设计目的</vt:lpstr>
      <vt:lpstr>设计目的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Thanks 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宇隐</cp:lastModifiedBy>
  <cp:revision>14</cp:revision>
  <cp:lastPrinted>2019-04-27T16:00:00Z</cp:lastPrinted>
  <dcterms:created xsi:type="dcterms:W3CDTF">2019-04-27T16:00:00Z</dcterms:created>
  <dcterms:modified xsi:type="dcterms:W3CDTF">2020-09-13T12:12:23Z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2052-11.1.0.9999</vt:lpwstr>
  </property>
</Properties>
</file>